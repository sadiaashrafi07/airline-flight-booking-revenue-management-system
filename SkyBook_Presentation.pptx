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13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Total Revenue (₹)</c:v>
                </c:pt>
              </c:strCache>
            </c:strRef>
          </c:tx>
          <c:spPr>
            <a:solidFill>
              <a:srgbClr val="1C7293"/>
            </a:solidFill>
            <a:effectLst/>
          </c:spPr>
          <c:invertIfNegative val="0"/>
          <c:dLbls>
            <c:numFmt formatCode="#,##0" sourceLinked="0"/>
            <c:spPr>
              <a:noFill/>
              <a:ln>
                <a:noFill/>
              </a:ln>
              <a:effectLst/>
            </c:spPr>
            <c:txPr>
              <a:bodyPr/>
              <a:lstStyle/>
              <a:p>
                <a:pPr>
                  <a:defRPr sz="1100" b="0" i="0" u="none" strike="noStrike">
                    <a:solidFill>
                      <a:srgbClr val="1A27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IndiGo</c:v>
                </c:pt>
                <c:pt idx="1">
                  <c:v>Air India</c:v>
                </c:pt>
                <c:pt idx="2">
                  <c:v>Vistara</c:v>
                </c:pt>
                <c:pt idx="3">
                  <c:v>SpiceJet</c:v>
                </c:pt>
              </c:strCache>
            </c:strRef>
          </c:cat>
          <c:val>
            <c:numRef>
              <c:f>Sheet1!$B$2:$B$5</c:f>
              <c:numCache>
                <c:formatCode>General</c:formatCode>
                <c:ptCount val="4"/>
                <c:pt idx="0">
                  <c:v>32250</c:v>
                </c:pt>
                <c:pt idx="1">
                  <c:v>33900</c:v>
                </c:pt>
                <c:pt idx="2">
                  <c:v>35150</c:v>
                </c:pt>
                <c:pt idx="3">
                  <c:v>18600</c:v>
                </c:pt>
              </c:numCache>
            </c:numRef>
          </c:val>
          <c:extLst>
            <c:ext xmlns:c16="http://schemas.microsoft.com/office/drawing/2014/chart" uri="{C3380CC4-5D6E-409C-BE32-E72D297353CC}">
              <c16:uniqueId val="{00000000-F40F-42B5-ACF3-4EC5767A3BD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73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B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70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Cumulative Revenue (₹)</c:v>
                </c:pt>
              </c:strCache>
            </c:strRef>
          </c:tx>
          <c:spPr>
            <a:ln w="31750" cap="flat">
              <a:solidFill>
                <a:srgbClr val="F4A300"/>
              </a:solidFill>
              <a:prstDash val="solid"/>
              <a:round/>
            </a:ln>
            <a:effectLst/>
          </c:spPr>
          <c:marker>
            <c:symbol val="circle"/>
            <c:size val="6"/>
            <c:spPr>
              <a:solidFill>
                <a:srgbClr val="F4A300"/>
              </a:solidFill>
              <a:ln w="9525" cap="flat">
                <a:solidFill>
                  <a:srgbClr val="F4A300"/>
                </a:solidFill>
                <a:prstDash val="solid"/>
                <a:round/>
              </a:ln>
              <a:effectLst/>
            </c:spPr>
          </c:marker>
          <c:cat>
            <c:strRef>
              <c:f>Sheet1!$A$2:$A$14</c:f>
              <c:strCache>
                <c:ptCount val="13"/>
                <c:pt idx="0">
                  <c:v>01/20</c:v>
                </c:pt>
                <c:pt idx="1">
                  <c:v>01/21</c:v>
                </c:pt>
                <c:pt idx="2">
                  <c:v>01/22</c:v>
                </c:pt>
                <c:pt idx="3">
                  <c:v>01/23</c:v>
                </c:pt>
                <c:pt idx="4">
                  <c:v>01/24</c:v>
                </c:pt>
                <c:pt idx="5">
                  <c:v>01/25</c:v>
                </c:pt>
                <c:pt idx="6">
                  <c:v>01/26</c:v>
                </c:pt>
                <c:pt idx="7">
                  <c:v>01/27</c:v>
                </c:pt>
                <c:pt idx="8">
                  <c:v>01/28</c:v>
                </c:pt>
                <c:pt idx="9">
                  <c:v>01/29</c:v>
                </c:pt>
                <c:pt idx="10">
                  <c:v>01/30</c:v>
                </c:pt>
                <c:pt idx="11">
                  <c:v>01/31</c:v>
                </c:pt>
                <c:pt idx="12">
                  <c:v>02/01</c:v>
                </c:pt>
              </c:strCache>
            </c:strRef>
          </c:cat>
          <c:val>
            <c:numRef>
              <c:f>Sheet1!$B$2:$B$14</c:f>
              <c:numCache>
                <c:formatCode>General</c:formatCode>
                <c:ptCount val="13"/>
                <c:pt idx="0">
                  <c:v>11250</c:v>
                </c:pt>
                <c:pt idx="1">
                  <c:v>20250</c:v>
                </c:pt>
                <c:pt idx="2">
                  <c:v>30850</c:v>
                </c:pt>
                <c:pt idx="3">
                  <c:v>40650</c:v>
                </c:pt>
                <c:pt idx="4">
                  <c:v>50300</c:v>
                </c:pt>
                <c:pt idx="5">
                  <c:v>56500</c:v>
                </c:pt>
                <c:pt idx="6">
                  <c:v>66050</c:v>
                </c:pt>
                <c:pt idx="7">
                  <c:v>75750</c:v>
                </c:pt>
                <c:pt idx="8">
                  <c:v>86300</c:v>
                </c:pt>
                <c:pt idx="9">
                  <c:v>96500</c:v>
                </c:pt>
                <c:pt idx="10">
                  <c:v>104500</c:v>
                </c:pt>
                <c:pt idx="11">
                  <c:v>115000</c:v>
                </c:pt>
                <c:pt idx="12">
                  <c:v>119900</c:v>
                </c:pt>
              </c:numCache>
            </c:numRef>
          </c:val>
          <c:smooth val="0"/>
          <c:extLst>
            <c:ext xmlns:c16="http://schemas.microsoft.com/office/drawing/2014/chart" uri="{C3380CC4-5D6E-409C-BE32-E72D297353CC}">
              <c16:uniqueId val="{00000000-6649-4348-8E76-22BC395D670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70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B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70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009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5C"/>
        </a:solidFill>
        <a:effectLst/>
      </p:bgPr>
    </p:bg>
    <p:spTree>
      <p:nvGrpSpPr>
        <p:cNvPr id="1" name=""/>
        <p:cNvGrpSpPr/>
        <p:nvPr/>
      </p:nvGrpSpPr>
      <p:grpSpPr>
        <a:xfrm>
          <a:off x="0" y="0"/>
          <a:ext cx="0" cy="0"/>
          <a:chOff x="0" y="0"/>
          <a:chExt cx="0" cy="0"/>
        </a:xfrm>
      </p:grpSpPr>
      <p:sp>
        <p:nvSpPr>
          <p:cNvPr id="2" name="Shape 0"/>
          <p:cNvSpPr/>
          <p:nvPr/>
        </p:nvSpPr>
        <p:spPr>
          <a:xfrm>
            <a:off x="20320" y="0"/>
            <a:ext cx="12188952" cy="6858000"/>
          </a:xfrm>
          <a:prstGeom prst="rect">
            <a:avLst/>
          </a:prstGeom>
          <a:solidFill>
            <a:srgbClr val="0B3D5C"/>
          </a:solidFill>
          <a:ln/>
        </p:spPr>
        <p:txBody>
          <a:bodyPr/>
          <a:lstStyle/>
          <a:p>
            <a:endParaRPr lang="en-IN" dirty="0"/>
          </a:p>
        </p:txBody>
      </p:sp>
      <p:sp>
        <p:nvSpPr>
          <p:cNvPr id="3" name="Shape 1"/>
          <p:cNvSpPr/>
          <p:nvPr/>
        </p:nvSpPr>
        <p:spPr>
          <a:xfrm>
            <a:off x="8412480" y="-2286000"/>
            <a:ext cx="7315200" cy="7315200"/>
          </a:xfrm>
          <a:prstGeom prst="ellipse">
            <a:avLst/>
          </a:prstGeom>
          <a:solidFill>
            <a:srgbClr val="1C7293">
              <a:alpha val="22000"/>
            </a:srgbClr>
          </a:solidFill>
          <a:ln/>
        </p:spPr>
        <p:txBody>
          <a:bodyPr/>
          <a:lstStyle/>
          <a:p>
            <a:endParaRPr lang="en-IN"/>
          </a:p>
        </p:txBody>
      </p:sp>
      <p:sp>
        <p:nvSpPr>
          <p:cNvPr id="4" name="Shape 2"/>
          <p:cNvSpPr/>
          <p:nvPr/>
        </p:nvSpPr>
        <p:spPr>
          <a:xfrm>
            <a:off x="9875520" y="3200400"/>
            <a:ext cx="4572000" cy="4572000"/>
          </a:xfrm>
          <a:prstGeom prst="ellipse">
            <a:avLst/>
          </a:prstGeom>
          <a:solidFill>
            <a:srgbClr val="F4A300">
              <a:alpha val="15000"/>
            </a:srgbClr>
          </a:solidFill>
          <a:ln/>
        </p:spPr>
        <p:txBody>
          <a:bodyPr/>
          <a:lstStyle/>
          <a:p>
            <a:endParaRPr lang="en-IN"/>
          </a:p>
        </p:txBody>
      </p:sp>
      <p:sp>
        <p:nvSpPr>
          <p:cNvPr id="5" name="Text 3"/>
          <p:cNvSpPr txBox="1"/>
          <p:nvPr/>
        </p:nvSpPr>
        <p:spPr>
          <a:xfrm>
            <a:off x="822960" y="1417320"/>
            <a:ext cx="7315200" cy="411480"/>
          </a:xfrm>
          <a:prstGeom prst="rect">
            <a:avLst/>
          </a:prstGeom>
          <a:noFill/>
          <a:ln/>
        </p:spPr>
        <p:txBody>
          <a:bodyPr wrap="square" lIns="0" tIns="0" rIns="0" bIns="0" rtlCol="0" anchor="ctr"/>
          <a:lstStyle/>
          <a:p>
            <a:pPr marL="0" indent="0">
              <a:buNone/>
            </a:pPr>
            <a:r>
              <a:rPr lang="en-US" sz="1500" b="1" kern="0" spc="300" dirty="0">
                <a:solidFill>
                  <a:srgbClr val="F4A300"/>
                </a:solidFill>
                <a:latin typeface="Calibri" pitchFamily="34" charset="0"/>
                <a:ea typeface="Calibri" pitchFamily="34" charset="-122"/>
                <a:cs typeface="Calibri" pitchFamily="34" charset="-120"/>
              </a:rPr>
              <a:t>SQL DATABASE PROJECT</a:t>
            </a:r>
            <a:endParaRPr lang="en-US" sz="1500" dirty="0"/>
          </a:p>
        </p:txBody>
      </p:sp>
      <p:sp>
        <p:nvSpPr>
          <p:cNvPr id="6" name="Text 4"/>
          <p:cNvSpPr txBox="1"/>
          <p:nvPr/>
        </p:nvSpPr>
        <p:spPr>
          <a:xfrm>
            <a:off x="777240" y="1874520"/>
            <a:ext cx="9144000" cy="118872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SkyBook</a:t>
            </a:r>
            <a:endParaRPr lang="en-US" sz="6000" dirty="0"/>
          </a:p>
        </p:txBody>
      </p:sp>
      <p:sp>
        <p:nvSpPr>
          <p:cNvPr id="7" name="Text 5"/>
          <p:cNvSpPr txBox="1"/>
          <p:nvPr/>
        </p:nvSpPr>
        <p:spPr>
          <a:xfrm>
            <a:off x="777240" y="2980944"/>
            <a:ext cx="9601200" cy="548640"/>
          </a:xfrm>
          <a:prstGeom prst="rect">
            <a:avLst/>
          </a:prstGeom>
          <a:noFill/>
          <a:ln/>
        </p:spPr>
        <p:txBody>
          <a:bodyPr wrap="square" lIns="0" tIns="0" rIns="0" bIns="0" rtlCol="0" anchor="ctr"/>
          <a:lstStyle/>
          <a:p>
            <a:pPr marL="0" indent="0">
              <a:buNone/>
            </a:pPr>
            <a:r>
              <a:rPr lang="en-US" sz="2200" dirty="0">
                <a:solidFill>
                  <a:srgbClr val="CADCFC"/>
                </a:solidFill>
                <a:latin typeface="Calibri" pitchFamily="34" charset="0"/>
                <a:ea typeface="Calibri" pitchFamily="34" charset="-122"/>
                <a:cs typeface="Calibri" pitchFamily="34" charset="-120"/>
              </a:rPr>
              <a:t>Airline Flight Booking &amp; Revenue Management System</a:t>
            </a:r>
            <a:endParaRPr lang="en-US" sz="2200" dirty="0"/>
          </a:p>
        </p:txBody>
      </p:sp>
      <p:sp>
        <p:nvSpPr>
          <p:cNvPr id="8" name="Text 6"/>
          <p:cNvSpPr txBox="1"/>
          <p:nvPr/>
        </p:nvSpPr>
        <p:spPr>
          <a:xfrm>
            <a:off x="822960" y="3794760"/>
            <a:ext cx="9601200" cy="365760"/>
          </a:xfrm>
          <a:prstGeom prst="rect">
            <a:avLst/>
          </a:prstGeom>
          <a:noFill/>
          <a:ln/>
        </p:spPr>
        <p:txBody>
          <a:bodyPr wrap="square" lIns="0" tIns="0" rIns="0" bIns="0" rtlCol="0" anchor="ctr"/>
          <a:lstStyle/>
          <a:p>
            <a:pPr marL="0" indent="0">
              <a:buNone/>
            </a:pPr>
            <a:r>
              <a:rPr lang="en-US" sz="1400" dirty="0">
                <a:solidFill>
                  <a:srgbClr val="9FB8C8"/>
                </a:solidFill>
                <a:latin typeface="Calibri" pitchFamily="34" charset="0"/>
                <a:ea typeface="Calibri" pitchFamily="34" charset="-122"/>
                <a:cs typeface="Calibri" pitchFamily="34" charset="-120"/>
              </a:rPr>
              <a:t>Relational schema  •  Joins &amp; Subqueries  •  Window Functions  •  CTEs  •  Views &amp; Indexes</a:t>
            </a:r>
            <a:endParaRPr lang="en-US" sz="1400" dirty="0"/>
          </a:p>
        </p:txBody>
      </p:sp>
      <p:sp>
        <p:nvSpPr>
          <p:cNvPr id="9" name="Shape 7"/>
          <p:cNvSpPr/>
          <p:nvPr/>
        </p:nvSpPr>
        <p:spPr>
          <a:xfrm>
            <a:off x="822960" y="5806440"/>
            <a:ext cx="1280160" cy="0"/>
          </a:xfrm>
          <a:prstGeom prst="line">
            <a:avLst/>
          </a:prstGeom>
          <a:noFill/>
          <a:ln w="31750">
            <a:solidFill>
              <a:srgbClr val="F4A300"/>
            </a:solidFill>
            <a:prstDash val="solid"/>
          </a:ln>
        </p:spPr>
        <p:txBody>
          <a:bodyPr/>
          <a:lstStyle/>
          <a:p>
            <a:endParaRPr lang="en-IN"/>
          </a:p>
        </p:txBody>
      </p:sp>
      <p:sp>
        <p:nvSpPr>
          <p:cNvPr id="10" name="Text 8"/>
          <p:cNvSpPr txBox="1"/>
          <p:nvPr/>
        </p:nvSpPr>
        <p:spPr>
          <a:xfrm>
            <a:off x="822960" y="5897880"/>
            <a:ext cx="457200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Prepared by Sadia Uzma Ashrafi</a:t>
            </a:r>
          </a:p>
        </p:txBody>
      </p:sp>
      <p:sp>
        <p:nvSpPr>
          <p:cNvPr id="11" name="Text 9"/>
          <p:cNvSpPr txBox="1"/>
          <p:nvPr/>
        </p:nvSpPr>
        <p:spPr>
          <a:xfrm>
            <a:off x="822960" y="6199632"/>
            <a:ext cx="5486400" cy="274320"/>
          </a:xfrm>
          <a:prstGeom prst="rect">
            <a:avLst/>
          </a:prstGeom>
          <a:noFill/>
          <a:ln/>
        </p:spPr>
        <p:txBody>
          <a:bodyPr wrap="square" lIns="0" tIns="0" rIns="0" bIns="0" rtlCol="0" anchor="ctr"/>
          <a:lstStyle/>
          <a:p>
            <a:pPr marL="0" indent="0">
              <a:buNone/>
            </a:pPr>
            <a:r>
              <a:rPr lang="en-US" sz="1100" dirty="0">
                <a:solidFill>
                  <a:srgbClr val="9FB8C8"/>
                </a:solidFill>
                <a:latin typeface="Calibri" pitchFamily="34" charset="0"/>
                <a:ea typeface="Calibri" pitchFamily="34" charset="-122"/>
                <a:cs typeface="Calibri" pitchFamily="34" charset="-120"/>
              </a:rPr>
              <a:t>Database: </a:t>
            </a:r>
            <a:r>
              <a:rPr lang="en-US" sz="1100" dirty="0" err="1">
                <a:solidFill>
                  <a:srgbClr val="9FB8C8"/>
                </a:solidFill>
                <a:latin typeface="Calibri" pitchFamily="34" charset="0"/>
                <a:ea typeface="Calibri" pitchFamily="34" charset="-122"/>
                <a:cs typeface="Calibri" pitchFamily="34" charset="-120"/>
              </a:rPr>
              <a:t>SkyBookDB</a:t>
            </a:r>
            <a:r>
              <a:rPr lang="en-US" sz="1100" dirty="0">
                <a:solidFill>
                  <a:srgbClr val="9FB8C8"/>
                </a:solidFill>
                <a:latin typeface="Calibri" pitchFamily="34" charset="0"/>
                <a:ea typeface="Calibri" pitchFamily="34" charset="-122"/>
                <a:cs typeface="Calibri" pitchFamily="34" charset="-12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THE PROBLEM</a:t>
            </a:r>
            <a:endParaRPr lang="en-US" sz="1300" dirty="0"/>
          </a:p>
        </p:txBody>
      </p:sp>
      <p:sp>
        <p:nvSpPr>
          <p:cNvPr id="3" name="Text 1"/>
          <p:cNvSpPr txBox="1"/>
          <p:nvPr/>
        </p:nvSpPr>
        <p:spPr>
          <a:xfrm>
            <a:off x="548640" y="822960"/>
            <a:ext cx="10515600" cy="822960"/>
          </a:xfrm>
          <a:prstGeom prst="rect">
            <a:avLst/>
          </a:prstGeom>
          <a:noFill/>
          <a:ln/>
        </p:spPr>
        <p:txBody>
          <a:bodyPr wrap="square" lIns="0" tIns="0" rIns="0" bIns="0" rtlCol="0" anchor="ctr"/>
          <a:lstStyle/>
          <a:p>
            <a:pPr marL="0" indent="0">
              <a:buNone/>
            </a:pPr>
            <a:r>
              <a:rPr lang="en-US" sz="2800" b="1" dirty="0">
                <a:solidFill>
                  <a:srgbClr val="1A2733"/>
                </a:solidFill>
                <a:latin typeface="Cambria" pitchFamily="34" charset="0"/>
                <a:ea typeface="Cambria" pitchFamily="34" charset="-122"/>
                <a:cs typeface="Cambria" pitchFamily="34" charset="-120"/>
              </a:rPr>
              <a:t>Booking data is scattered — a relational database fixes that</a:t>
            </a:r>
            <a:endParaRPr lang="en-US" sz="2800" dirty="0"/>
          </a:p>
        </p:txBody>
      </p:sp>
      <p:sp>
        <p:nvSpPr>
          <p:cNvPr id="4" name="Text 2"/>
          <p:cNvSpPr txBox="1"/>
          <p:nvPr/>
        </p:nvSpPr>
        <p:spPr>
          <a:xfrm>
            <a:off x="548640" y="1691640"/>
            <a:ext cx="6035040" cy="1645920"/>
          </a:xfrm>
          <a:prstGeom prst="rect">
            <a:avLst/>
          </a:prstGeom>
          <a:noFill/>
          <a:ln/>
        </p:spPr>
        <p:txBody>
          <a:bodyPr wrap="square" lIns="0" tIns="0" rIns="0" bIns="0" rtlCol="0" anchor="ctr"/>
          <a:lstStyle/>
          <a:p>
            <a:pPr marL="0" indent="0">
              <a:lnSpc>
                <a:spcPct val="125000"/>
              </a:lnSpc>
              <a:buNone/>
            </a:pPr>
            <a:r>
              <a:rPr lang="en-US" sz="1500" dirty="0">
                <a:solidFill>
                  <a:srgbClr val="5C7080"/>
                </a:solidFill>
                <a:latin typeface="Calibri" pitchFamily="34" charset="0"/>
                <a:ea typeface="Calibri" pitchFamily="34" charset="-122"/>
                <a:cs typeface="Calibri" pitchFamily="34" charset="-120"/>
              </a:rPr>
              <a:t>An airline booking desk deals with passengers, flights, seat inventory, and payments at the same time. Managed in spreadsheets, this data duplicates fast, goes out of sync, and makes even simple questions — "which route earns the most?" — hard to answer reliably.</a:t>
            </a:r>
            <a:endParaRPr lang="en-US" sz="1500" dirty="0"/>
          </a:p>
        </p:txBody>
      </p:sp>
      <p:sp>
        <p:nvSpPr>
          <p:cNvPr id="5" name="Shape 3"/>
          <p:cNvSpPr/>
          <p:nvPr/>
        </p:nvSpPr>
        <p:spPr>
          <a:xfrm>
            <a:off x="548640" y="3657600"/>
            <a:ext cx="6035040" cy="822960"/>
          </a:xfrm>
          <a:prstGeom prst="roundRect">
            <a:avLst>
              <a:gd name="adj" fmla="val 8889"/>
            </a:avLst>
          </a:prstGeom>
          <a:solidFill>
            <a:srgbClr val="F5F9FC"/>
          </a:solidFill>
          <a:ln/>
        </p:spPr>
        <p:txBody>
          <a:bodyPr/>
          <a:lstStyle/>
          <a:p>
            <a:endParaRPr lang="en-IN"/>
          </a:p>
        </p:txBody>
      </p:sp>
      <p:sp>
        <p:nvSpPr>
          <p:cNvPr id="6" name="Shape 4"/>
          <p:cNvSpPr/>
          <p:nvPr/>
        </p:nvSpPr>
        <p:spPr>
          <a:xfrm>
            <a:off x="548640" y="3657600"/>
            <a:ext cx="73152" cy="822960"/>
          </a:xfrm>
          <a:prstGeom prst="rect">
            <a:avLst/>
          </a:prstGeom>
          <a:solidFill>
            <a:srgbClr val="F4A300"/>
          </a:solidFill>
          <a:ln/>
        </p:spPr>
        <p:txBody>
          <a:bodyPr/>
          <a:lstStyle/>
          <a:p>
            <a:endParaRPr lang="en-IN"/>
          </a:p>
        </p:txBody>
      </p:sp>
      <p:sp>
        <p:nvSpPr>
          <p:cNvPr id="7" name="Text 5"/>
          <p:cNvSpPr txBox="1"/>
          <p:nvPr/>
        </p:nvSpPr>
        <p:spPr>
          <a:xfrm>
            <a:off x="777240" y="3730752"/>
            <a:ext cx="5669280" cy="320040"/>
          </a:xfrm>
          <a:prstGeom prst="rect">
            <a:avLst/>
          </a:prstGeom>
          <a:noFill/>
          <a:ln/>
        </p:spPr>
        <p:txBody>
          <a:bodyPr wrap="square" lIns="0" tIns="0" rIns="0" bIns="0" rtlCol="0" anchor="ctr"/>
          <a:lstStyle/>
          <a:p>
            <a:pPr marL="0" indent="0">
              <a:buNone/>
            </a:pPr>
            <a:r>
              <a:rPr lang="en-US" sz="1400" b="1" dirty="0">
                <a:solidFill>
                  <a:srgbClr val="1A2733"/>
                </a:solidFill>
                <a:latin typeface="Calibri" pitchFamily="34" charset="0"/>
                <a:ea typeface="Calibri" pitchFamily="34" charset="-122"/>
                <a:cs typeface="Calibri" pitchFamily="34" charset="-120"/>
              </a:rPr>
              <a:t>Redundant data</a:t>
            </a:r>
            <a:endParaRPr lang="en-US" sz="1400" dirty="0"/>
          </a:p>
        </p:txBody>
      </p:sp>
      <p:sp>
        <p:nvSpPr>
          <p:cNvPr id="8" name="Text 6"/>
          <p:cNvSpPr txBox="1"/>
          <p:nvPr/>
        </p:nvSpPr>
        <p:spPr>
          <a:xfrm>
            <a:off x="777240" y="4041648"/>
            <a:ext cx="5669280" cy="365760"/>
          </a:xfrm>
          <a:prstGeom prst="rect">
            <a:avLst/>
          </a:prstGeom>
          <a:noFill/>
          <a:ln/>
        </p:spPr>
        <p:txBody>
          <a:bodyPr wrap="square" lIns="0" tIns="0" rIns="0" bIns="0" rtlCol="0" anchor="ctr"/>
          <a:lstStyle/>
          <a:p>
            <a:pPr marL="0" indent="0">
              <a:buNone/>
            </a:pPr>
            <a:r>
              <a:rPr lang="en-US" sz="1150" dirty="0">
                <a:solidFill>
                  <a:srgbClr val="5C7080"/>
                </a:solidFill>
                <a:latin typeface="Calibri" pitchFamily="34" charset="0"/>
                <a:ea typeface="Calibri" pitchFamily="34" charset="-122"/>
                <a:cs typeface="Calibri" pitchFamily="34" charset="-120"/>
              </a:rPr>
              <a:t>Passenger and flight details repeated across every booking row</a:t>
            </a:r>
            <a:endParaRPr lang="en-US" sz="1150" dirty="0"/>
          </a:p>
        </p:txBody>
      </p:sp>
      <p:sp>
        <p:nvSpPr>
          <p:cNvPr id="9" name="Shape 7"/>
          <p:cNvSpPr/>
          <p:nvPr/>
        </p:nvSpPr>
        <p:spPr>
          <a:xfrm>
            <a:off x="548640" y="4617720"/>
            <a:ext cx="6035040" cy="822960"/>
          </a:xfrm>
          <a:prstGeom prst="roundRect">
            <a:avLst>
              <a:gd name="adj" fmla="val 8889"/>
            </a:avLst>
          </a:prstGeom>
          <a:solidFill>
            <a:srgbClr val="F5F9FC"/>
          </a:solidFill>
          <a:ln/>
        </p:spPr>
        <p:txBody>
          <a:bodyPr/>
          <a:lstStyle/>
          <a:p>
            <a:endParaRPr lang="en-IN"/>
          </a:p>
        </p:txBody>
      </p:sp>
      <p:sp>
        <p:nvSpPr>
          <p:cNvPr id="10" name="Shape 8"/>
          <p:cNvSpPr/>
          <p:nvPr/>
        </p:nvSpPr>
        <p:spPr>
          <a:xfrm>
            <a:off x="548640" y="4617720"/>
            <a:ext cx="73152" cy="822960"/>
          </a:xfrm>
          <a:prstGeom prst="rect">
            <a:avLst/>
          </a:prstGeom>
          <a:solidFill>
            <a:srgbClr val="F4A300"/>
          </a:solidFill>
          <a:ln/>
        </p:spPr>
        <p:txBody>
          <a:bodyPr/>
          <a:lstStyle/>
          <a:p>
            <a:endParaRPr lang="en-IN"/>
          </a:p>
        </p:txBody>
      </p:sp>
      <p:sp>
        <p:nvSpPr>
          <p:cNvPr id="11" name="Text 9"/>
          <p:cNvSpPr txBox="1"/>
          <p:nvPr/>
        </p:nvSpPr>
        <p:spPr>
          <a:xfrm>
            <a:off x="777240" y="4690872"/>
            <a:ext cx="5669280" cy="320040"/>
          </a:xfrm>
          <a:prstGeom prst="rect">
            <a:avLst/>
          </a:prstGeom>
          <a:noFill/>
          <a:ln/>
        </p:spPr>
        <p:txBody>
          <a:bodyPr wrap="square" lIns="0" tIns="0" rIns="0" bIns="0" rtlCol="0" anchor="ctr"/>
          <a:lstStyle/>
          <a:p>
            <a:pPr marL="0" indent="0">
              <a:buNone/>
            </a:pPr>
            <a:r>
              <a:rPr lang="en-US" sz="1400" b="1" dirty="0">
                <a:solidFill>
                  <a:srgbClr val="1A2733"/>
                </a:solidFill>
                <a:latin typeface="Calibri" pitchFamily="34" charset="0"/>
                <a:ea typeface="Calibri" pitchFamily="34" charset="-122"/>
                <a:cs typeface="Calibri" pitchFamily="34" charset="-120"/>
              </a:rPr>
              <a:t>No single source of truth</a:t>
            </a:r>
            <a:endParaRPr lang="en-US" sz="1400" dirty="0"/>
          </a:p>
        </p:txBody>
      </p:sp>
      <p:sp>
        <p:nvSpPr>
          <p:cNvPr id="12" name="Text 10"/>
          <p:cNvSpPr txBox="1"/>
          <p:nvPr/>
        </p:nvSpPr>
        <p:spPr>
          <a:xfrm>
            <a:off x="777240" y="5001768"/>
            <a:ext cx="5669280" cy="365760"/>
          </a:xfrm>
          <a:prstGeom prst="rect">
            <a:avLst/>
          </a:prstGeom>
          <a:noFill/>
          <a:ln/>
        </p:spPr>
        <p:txBody>
          <a:bodyPr wrap="square" lIns="0" tIns="0" rIns="0" bIns="0" rtlCol="0" anchor="ctr"/>
          <a:lstStyle/>
          <a:p>
            <a:pPr marL="0" indent="0">
              <a:buNone/>
            </a:pPr>
            <a:r>
              <a:rPr lang="en-US" sz="1150" dirty="0">
                <a:solidFill>
                  <a:srgbClr val="5C7080"/>
                </a:solidFill>
                <a:latin typeface="Calibri" pitchFamily="34" charset="0"/>
                <a:ea typeface="Calibri" pitchFamily="34" charset="-122"/>
                <a:cs typeface="Calibri" pitchFamily="34" charset="-120"/>
              </a:rPr>
              <a:t>Front desk, ops, and finance each keep their own version</a:t>
            </a:r>
            <a:endParaRPr lang="en-US" sz="1150" dirty="0"/>
          </a:p>
        </p:txBody>
      </p:sp>
      <p:sp>
        <p:nvSpPr>
          <p:cNvPr id="13" name="Shape 11"/>
          <p:cNvSpPr/>
          <p:nvPr/>
        </p:nvSpPr>
        <p:spPr>
          <a:xfrm>
            <a:off x="548640" y="5577840"/>
            <a:ext cx="6035040" cy="822960"/>
          </a:xfrm>
          <a:prstGeom prst="roundRect">
            <a:avLst>
              <a:gd name="adj" fmla="val 8889"/>
            </a:avLst>
          </a:prstGeom>
          <a:solidFill>
            <a:srgbClr val="F5F9FC"/>
          </a:solidFill>
          <a:ln/>
        </p:spPr>
        <p:txBody>
          <a:bodyPr/>
          <a:lstStyle/>
          <a:p>
            <a:endParaRPr lang="en-IN"/>
          </a:p>
        </p:txBody>
      </p:sp>
      <p:sp>
        <p:nvSpPr>
          <p:cNvPr id="14" name="Shape 12"/>
          <p:cNvSpPr/>
          <p:nvPr/>
        </p:nvSpPr>
        <p:spPr>
          <a:xfrm>
            <a:off x="548640" y="5577840"/>
            <a:ext cx="73152" cy="822960"/>
          </a:xfrm>
          <a:prstGeom prst="rect">
            <a:avLst/>
          </a:prstGeom>
          <a:solidFill>
            <a:srgbClr val="F4A300"/>
          </a:solidFill>
          <a:ln/>
        </p:spPr>
        <p:txBody>
          <a:bodyPr/>
          <a:lstStyle/>
          <a:p>
            <a:endParaRPr lang="en-IN"/>
          </a:p>
        </p:txBody>
      </p:sp>
      <p:sp>
        <p:nvSpPr>
          <p:cNvPr id="15" name="Text 13"/>
          <p:cNvSpPr txBox="1"/>
          <p:nvPr/>
        </p:nvSpPr>
        <p:spPr>
          <a:xfrm>
            <a:off x="777240" y="5650992"/>
            <a:ext cx="5669280" cy="320040"/>
          </a:xfrm>
          <a:prstGeom prst="rect">
            <a:avLst/>
          </a:prstGeom>
          <a:noFill/>
          <a:ln/>
        </p:spPr>
        <p:txBody>
          <a:bodyPr wrap="square" lIns="0" tIns="0" rIns="0" bIns="0" rtlCol="0" anchor="ctr"/>
          <a:lstStyle/>
          <a:p>
            <a:pPr marL="0" indent="0">
              <a:buNone/>
            </a:pPr>
            <a:r>
              <a:rPr lang="en-US" sz="1400" b="1" dirty="0">
                <a:solidFill>
                  <a:srgbClr val="1A2733"/>
                </a:solidFill>
                <a:latin typeface="Calibri" pitchFamily="34" charset="0"/>
                <a:ea typeface="Calibri" pitchFamily="34" charset="-122"/>
                <a:cs typeface="Calibri" pitchFamily="34" charset="-120"/>
              </a:rPr>
              <a:t>Hard to report on</a:t>
            </a:r>
            <a:endParaRPr lang="en-US" sz="1400" dirty="0"/>
          </a:p>
        </p:txBody>
      </p:sp>
      <p:sp>
        <p:nvSpPr>
          <p:cNvPr id="16" name="Text 14"/>
          <p:cNvSpPr txBox="1"/>
          <p:nvPr/>
        </p:nvSpPr>
        <p:spPr>
          <a:xfrm>
            <a:off x="777240" y="5961888"/>
            <a:ext cx="5669280" cy="365760"/>
          </a:xfrm>
          <a:prstGeom prst="rect">
            <a:avLst/>
          </a:prstGeom>
          <a:noFill/>
          <a:ln/>
        </p:spPr>
        <p:txBody>
          <a:bodyPr wrap="square" lIns="0" tIns="0" rIns="0" bIns="0" rtlCol="0" anchor="ctr"/>
          <a:lstStyle/>
          <a:p>
            <a:pPr marL="0" indent="0">
              <a:buNone/>
            </a:pPr>
            <a:r>
              <a:rPr lang="en-US" sz="1150" dirty="0">
                <a:solidFill>
                  <a:srgbClr val="5C7080"/>
                </a:solidFill>
                <a:latin typeface="Calibri" pitchFamily="34" charset="0"/>
                <a:ea typeface="Calibri" pitchFamily="34" charset="-122"/>
                <a:cs typeface="Calibri" pitchFamily="34" charset="-120"/>
              </a:rPr>
              <a:t>"Top route by revenue" needs manual spreadsheet gymnastics</a:t>
            </a:r>
            <a:endParaRPr lang="en-US" sz="1150" dirty="0"/>
          </a:p>
        </p:txBody>
      </p:sp>
      <p:sp>
        <p:nvSpPr>
          <p:cNvPr id="17" name="Shape 15"/>
          <p:cNvSpPr/>
          <p:nvPr/>
        </p:nvSpPr>
        <p:spPr>
          <a:xfrm>
            <a:off x="6949440" y="1691640"/>
            <a:ext cx="4709160" cy="4572000"/>
          </a:xfrm>
          <a:prstGeom prst="roundRect">
            <a:avLst>
              <a:gd name="adj" fmla="val 2000"/>
            </a:avLst>
          </a:prstGeom>
          <a:solidFill>
            <a:srgbClr val="0B3D5C"/>
          </a:solidFill>
          <a:ln/>
        </p:spPr>
        <p:txBody>
          <a:bodyPr/>
          <a:lstStyle/>
          <a:p>
            <a:endParaRPr lang="en-IN"/>
          </a:p>
        </p:txBody>
      </p:sp>
      <p:sp>
        <p:nvSpPr>
          <p:cNvPr id="18" name="Text 16"/>
          <p:cNvSpPr txBox="1"/>
          <p:nvPr/>
        </p:nvSpPr>
        <p:spPr>
          <a:xfrm>
            <a:off x="7315200" y="1965960"/>
            <a:ext cx="4023360" cy="320040"/>
          </a:xfrm>
          <a:prstGeom prst="rect">
            <a:avLst/>
          </a:prstGeom>
          <a:noFill/>
          <a:ln/>
        </p:spPr>
        <p:txBody>
          <a:bodyPr wrap="square" lIns="0" tIns="0" rIns="0" bIns="0"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SkyBookDB AT A GLANCE</a:t>
            </a:r>
            <a:endParaRPr lang="en-US" sz="1200" dirty="0"/>
          </a:p>
        </p:txBody>
      </p:sp>
      <p:sp>
        <p:nvSpPr>
          <p:cNvPr id="19" name="Text 17"/>
          <p:cNvSpPr txBox="1"/>
          <p:nvPr/>
        </p:nvSpPr>
        <p:spPr>
          <a:xfrm>
            <a:off x="7315200" y="2514600"/>
            <a:ext cx="1463040" cy="6858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20" name="Text 18"/>
          <p:cNvSpPr txBox="1"/>
          <p:nvPr/>
        </p:nvSpPr>
        <p:spPr>
          <a:xfrm>
            <a:off x="8686800" y="2679192"/>
            <a:ext cx="2743200" cy="54864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Linked tables</a:t>
            </a:r>
            <a:endParaRPr lang="en-US" sz="1300" dirty="0"/>
          </a:p>
        </p:txBody>
      </p:sp>
      <p:sp>
        <p:nvSpPr>
          <p:cNvPr id="21" name="Text 19"/>
          <p:cNvSpPr txBox="1"/>
          <p:nvPr/>
        </p:nvSpPr>
        <p:spPr>
          <a:xfrm>
            <a:off x="7315200" y="3429000"/>
            <a:ext cx="1463040" cy="6858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30</a:t>
            </a:r>
            <a:endParaRPr lang="en-US" sz="4000" dirty="0"/>
          </a:p>
        </p:txBody>
      </p:sp>
      <p:sp>
        <p:nvSpPr>
          <p:cNvPr id="22" name="Text 20"/>
          <p:cNvSpPr txBox="1"/>
          <p:nvPr/>
        </p:nvSpPr>
        <p:spPr>
          <a:xfrm>
            <a:off x="8686800" y="3593592"/>
            <a:ext cx="2743200" cy="54864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SQL queries answered</a:t>
            </a:r>
            <a:endParaRPr lang="en-US" sz="1300" dirty="0"/>
          </a:p>
        </p:txBody>
      </p:sp>
      <p:sp>
        <p:nvSpPr>
          <p:cNvPr id="23" name="Text 21"/>
          <p:cNvSpPr txBox="1"/>
          <p:nvPr/>
        </p:nvSpPr>
        <p:spPr>
          <a:xfrm>
            <a:off x="7315200" y="4343400"/>
            <a:ext cx="1463040" cy="6858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24" name="Text 22"/>
          <p:cNvSpPr txBox="1"/>
          <p:nvPr/>
        </p:nvSpPr>
        <p:spPr>
          <a:xfrm>
            <a:off x="8686800" y="4507992"/>
            <a:ext cx="2743200" cy="54864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Window-function techniques</a:t>
            </a:r>
            <a:endParaRPr lang="en-US" sz="1300" dirty="0"/>
          </a:p>
        </p:txBody>
      </p:sp>
      <p:sp>
        <p:nvSpPr>
          <p:cNvPr id="25" name="Text 23"/>
          <p:cNvSpPr txBox="1"/>
          <p:nvPr/>
        </p:nvSpPr>
        <p:spPr>
          <a:xfrm>
            <a:off x="7315200" y="5257800"/>
            <a:ext cx="1463040" cy="6858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26" name="Text 24"/>
          <p:cNvSpPr txBox="1"/>
          <p:nvPr/>
        </p:nvSpPr>
        <p:spPr>
          <a:xfrm>
            <a:off x="8686800" y="5422392"/>
            <a:ext cx="2743200" cy="54864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Reporting views + 2 indexes</a:t>
            </a:r>
            <a:endParaRPr lang="en-US" sz="1300" dirty="0"/>
          </a:p>
        </p:txBody>
      </p:sp>
      <p:sp>
        <p:nvSpPr>
          <p:cNvPr id="27" name="Text 25"/>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5C7080"/>
                </a:solidFill>
                <a:latin typeface="Calibri" pitchFamily="34" charset="0"/>
                <a:ea typeface="Calibri" pitchFamily="34" charset="-122"/>
                <a:cs typeface="Calibri"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APPROACH</a:t>
            </a:r>
            <a:endParaRPr lang="en-US" sz="1300" dirty="0"/>
          </a:p>
        </p:txBody>
      </p:sp>
      <p:sp>
        <p:nvSpPr>
          <p:cNvPr id="3" name="Text 1"/>
          <p:cNvSpPr txBox="1"/>
          <p:nvPr/>
        </p:nvSpPr>
        <p:spPr>
          <a:xfrm>
            <a:off x="548640" y="822960"/>
            <a:ext cx="10058400" cy="640080"/>
          </a:xfrm>
          <a:prstGeom prst="rect">
            <a:avLst/>
          </a:prstGeom>
          <a:noFill/>
          <a:ln/>
        </p:spPr>
        <p:txBody>
          <a:bodyPr wrap="square" lIns="0" tIns="0" rIns="0" bIns="0" rtlCol="0" anchor="ctr"/>
          <a:lstStyle/>
          <a:p>
            <a:pPr marL="0" indent="0">
              <a:buNone/>
            </a:pPr>
            <a:r>
              <a:rPr lang="en-US" sz="2800" b="1" dirty="0">
                <a:solidFill>
                  <a:srgbClr val="1A2733"/>
                </a:solidFill>
                <a:latin typeface="Cambria" pitchFamily="34" charset="0"/>
                <a:ea typeface="Cambria" pitchFamily="34" charset="-122"/>
                <a:cs typeface="Cambria" pitchFamily="34" charset="-120"/>
              </a:rPr>
              <a:t>A four-stage build, start to finish</a:t>
            </a:r>
            <a:endParaRPr lang="en-US" sz="2800" dirty="0"/>
          </a:p>
        </p:txBody>
      </p:sp>
      <p:sp>
        <p:nvSpPr>
          <p:cNvPr id="4" name="Shape 2"/>
          <p:cNvSpPr/>
          <p:nvPr/>
        </p:nvSpPr>
        <p:spPr>
          <a:xfrm>
            <a:off x="548640" y="1920240"/>
            <a:ext cx="2697480" cy="3749040"/>
          </a:xfrm>
          <a:prstGeom prst="roundRect">
            <a:avLst>
              <a:gd name="adj" fmla="val 3390"/>
            </a:avLst>
          </a:prstGeom>
          <a:solidFill>
            <a:srgbClr val="F5F9FC"/>
          </a:solidFill>
          <a:ln/>
        </p:spPr>
        <p:txBody>
          <a:bodyPr/>
          <a:lstStyle/>
          <a:p>
            <a:endParaRPr lang="en-IN"/>
          </a:p>
        </p:txBody>
      </p:sp>
      <p:sp>
        <p:nvSpPr>
          <p:cNvPr id="5" name="Shape 3"/>
          <p:cNvSpPr/>
          <p:nvPr/>
        </p:nvSpPr>
        <p:spPr>
          <a:xfrm>
            <a:off x="777240" y="2194560"/>
            <a:ext cx="640080" cy="640080"/>
          </a:xfrm>
          <a:prstGeom prst="ellipse">
            <a:avLst/>
          </a:prstGeom>
          <a:solidFill>
            <a:srgbClr val="0B3D5C"/>
          </a:solidFill>
          <a:ln/>
        </p:spPr>
        <p:txBody>
          <a:bodyPr/>
          <a:lstStyle/>
          <a:p>
            <a:endParaRPr lang="en-IN"/>
          </a:p>
        </p:txBody>
      </p:sp>
      <p:sp>
        <p:nvSpPr>
          <p:cNvPr id="6" name="Text 4"/>
          <p:cNvSpPr txBox="1"/>
          <p:nvPr/>
        </p:nvSpPr>
        <p:spPr>
          <a:xfrm>
            <a:off x="777240" y="219456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01</a:t>
            </a:r>
            <a:endParaRPr lang="en-US" sz="2000" dirty="0"/>
          </a:p>
        </p:txBody>
      </p:sp>
      <p:sp>
        <p:nvSpPr>
          <p:cNvPr id="7" name="Text 5"/>
          <p:cNvSpPr txBox="1"/>
          <p:nvPr/>
        </p:nvSpPr>
        <p:spPr>
          <a:xfrm>
            <a:off x="777240" y="3017520"/>
            <a:ext cx="2240280" cy="640080"/>
          </a:xfrm>
          <a:prstGeom prst="rect">
            <a:avLst/>
          </a:prstGeom>
          <a:noFill/>
          <a:ln/>
        </p:spPr>
        <p:txBody>
          <a:bodyPr wrap="square" lIns="0" tIns="0" rIns="0" bIns="0" rtlCol="0" anchor="ctr"/>
          <a:lstStyle/>
          <a:p>
            <a:pPr marL="0" indent="0">
              <a:buNone/>
            </a:pPr>
            <a:r>
              <a:rPr lang="en-US" sz="1500" b="1" dirty="0">
                <a:solidFill>
                  <a:srgbClr val="1A2733"/>
                </a:solidFill>
                <a:latin typeface="Calibri" pitchFamily="34" charset="0"/>
                <a:ea typeface="Calibri" pitchFamily="34" charset="-122"/>
                <a:cs typeface="Calibri" pitchFamily="34" charset="-120"/>
              </a:rPr>
              <a:t>Define Questions</a:t>
            </a:r>
            <a:endParaRPr lang="en-US" sz="1500" dirty="0"/>
          </a:p>
        </p:txBody>
      </p:sp>
      <p:sp>
        <p:nvSpPr>
          <p:cNvPr id="8" name="Text 6"/>
          <p:cNvSpPr txBox="1"/>
          <p:nvPr/>
        </p:nvSpPr>
        <p:spPr>
          <a:xfrm>
            <a:off x="777240" y="3657600"/>
            <a:ext cx="2240280" cy="1737360"/>
          </a:xfrm>
          <a:prstGeom prst="rect">
            <a:avLst/>
          </a:prstGeom>
          <a:noFill/>
          <a:ln/>
        </p:spPr>
        <p:txBody>
          <a:bodyPr wrap="square" lIns="0" tIns="0" rIns="0" bIns="0" rtlCol="0" anchor="ctr"/>
          <a:lstStyle/>
          <a:p>
            <a:pPr marL="0" indent="0">
              <a:lnSpc>
                <a:spcPct val="120000"/>
              </a:lnSpc>
              <a:buNone/>
            </a:pPr>
            <a:r>
              <a:rPr lang="en-US" sz="1150" dirty="0">
                <a:solidFill>
                  <a:srgbClr val="5C7080"/>
                </a:solidFill>
                <a:latin typeface="Calibri" pitchFamily="34" charset="0"/>
                <a:ea typeface="Calibri" pitchFamily="34" charset="-122"/>
                <a:cs typeface="Calibri" pitchFamily="34" charset="-120"/>
              </a:rPr>
              <a:t>What should the business be able to ask this database?</a:t>
            </a:r>
            <a:endParaRPr lang="en-US" sz="1150" dirty="0"/>
          </a:p>
        </p:txBody>
      </p:sp>
      <p:sp>
        <p:nvSpPr>
          <p:cNvPr id="9" name="Text 7"/>
          <p:cNvSpPr txBox="1"/>
          <p:nvPr/>
        </p:nvSpPr>
        <p:spPr>
          <a:xfrm>
            <a:off x="3200400" y="3566160"/>
            <a:ext cx="320040" cy="457200"/>
          </a:xfrm>
          <a:prstGeom prst="rect">
            <a:avLst/>
          </a:prstGeom>
          <a:noFill/>
          <a:ln/>
        </p:spPr>
        <p:txBody>
          <a:bodyPr wrap="square" lIns="0" tIns="0" rIns="0" bIns="0" rtlCol="0" anchor="ctr"/>
          <a:lstStyle/>
          <a:p>
            <a:pPr marL="0" indent="0" algn="ctr">
              <a:buNone/>
            </a:pPr>
            <a:r>
              <a:rPr lang="en-US" sz="2000" b="1" dirty="0">
                <a:solidFill>
                  <a:srgbClr val="F4A300"/>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474720" y="1920240"/>
            <a:ext cx="2697480" cy="3749040"/>
          </a:xfrm>
          <a:prstGeom prst="roundRect">
            <a:avLst>
              <a:gd name="adj" fmla="val 3390"/>
            </a:avLst>
          </a:prstGeom>
          <a:solidFill>
            <a:srgbClr val="F5F9FC"/>
          </a:solidFill>
          <a:ln/>
        </p:spPr>
        <p:txBody>
          <a:bodyPr/>
          <a:lstStyle/>
          <a:p>
            <a:endParaRPr lang="en-IN"/>
          </a:p>
        </p:txBody>
      </p:sp>
      <p:sp>
        <p:nvSpPr>
          <p:cNvPr id="11" name="Shape 9"/>
          <p:cNvSpPr/>
          <p:nvPr/>
        </p:nvSpPr>
        <p:spPr>
          <a:xfrm>
            <a:off x="3703320" y="2194560"/>
            <a:ext cx="640080" cy="640080"/>
          </a:xfrm>
          <a:prstGeom prst="ellipse">
            <a:avLst/>
          </a:prstGeom>
          <a:solidFill>
            <a:srgbClr val="1C7293"/>
          </a:solidFill>
          <a:ln/>
        </p:spPr>
        <p:txBody>
          <a:bodyPr/>
          <a:lstStyle/>
          <a:p>
            <a:endParaRPr lang="en-IN"/>
          </a:p>
        </p:txBody>
      </p:sp>
      <p:sp>
        <p:nvSpPr>
          <p:cNvPr id="12" name="Text 10"/>
          <p:cNvSpPr txBox="1"/>
          <p:nvPr/>
        </p:nvSpPr>
        <p:spPr>
          <a:xfrm>
            <a:off x="3703320" y="219456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02</a:t>
            </a:r>
            <a:endParaRPr lang="en-US" sz="2000" dirty="0"/>
          </a:p>
        </p:txBody>
      </p:sp>
      <p:sp>
        <p:nvSpPr>
          <p:cNvPr id="13" name="Text 11"/>
          <p:cNvSpPr txBox="1"/>
          <p:nvPr/>
        </p:nvSpPr>
        <p:spPr>
          <a:xfrm>
            <a:off x="3703320" y="3017520"/>
            <a:ext cx="2240280" cy="640080"/>
          </a:xfrm>
          <a:prstGeom prst="rect">
            <a:avLst/>
          </a:prstGeom>
          <a:noFill/>
          <a:ln/>
        </p:spPr>
        <p:txBody>
          <a:bodyPr wrap="square" lIns="0" tIns="0" rIns="0" bIns="0" rtlCol="0" anchor="ctr"/>
          <a:lstStyle/>
          <a:p>
            <a:pPr marL="0" indent="0">
              <a:buNone/>
            </a:pPr>
            <a:r>
              <a:rPr lang="en-US" sz="1500" b="1" dirty="0">
                <a:solidFill>
                  <a:srgbClr val="1A2733"/>
                </a:solidFill>
                <a:latin typeface="Calibri" pitchFamily="34" charset="0"/>
                <a:ea typeface="Calibri" pitchFamily="34" charset="-122"/>
                <a:cs typeface="Calibri" pitchFamily="34" charset="-120"/>
              </a:rPr>
              <a:t>Data Prep &amp; Exploration</a:t>
            </a:r>
            <a:endParaRPr lang="en-US" sz="1500" dirty="0"/>
          </a:p>
        </p:txBody>
      </p:sp>
      <p:sp>
        <p:nvSpPr>
          <p:cNvPr id="14" name="Text 12"/>
          <p:cNvSpPr txBox="1"/>
          <p:nvPr/>
        </p:nvSpPr>
        <p:spPr>
          <a:xfrm>
            <a:off x="3703320" y="3657600"/>
            <a:ext cx="2240280" cy="1737360"/>
          </a:xfrm>
          <a:prstGeom prst="rect">
            <a:avLst/>
          </a:prstGeom>
          <a:noFill/>
          <a:ln/>
        </p:spPr>
        <p:txBody>
          <a:bodyPr wrap="square" lIns="0" tIns="0" rIns="0" bIns="0" rtlCol="0" anchor="ctr"/>
          <a:lstStyle/>
          <a:p>
            <a:pPr marL="0" indent="0">
              <a:lnSpc>
                <a:spcPct val="120000"/>
              </a:lnSpc>
              <a:buNone/>
            </a:pPr>
            <a:r>
              <a:rPr lang="en-US" sz="1150" dirty="0">
                <a:solidFill>
                  <a:srgbClr val="5C7080"/>
                </a:solidFill>
                <a:latin typeface="Calibri" pitchFamily="34" charset="0"/>
                <a:ea typeface="Calibri" pitchFamily="34" charset="-122"/>
                <a:cs typeface="Calibri" pitchFamily="34" charset="-120"/>
              </a:rPr>
              <a:t>Design the schema, normalize it, load realistic sample data</a:t>
            </a:r>
            <a:endParaRPr lang="en-US" sz="1150" dirty="0"/>
          </a:p>
        </p:txBody>
      </p:sp>
      <p:sp>
        <p:nvSpPr>
          <p:cNvPr id="15" name="Text 13"/>
          <p:cNvSpPr txBox="1"/>
          <p:nvPr/>
        </p:nvSpPr>
        <p:spPr>
          <a:xfrm>
            <a:off x="6126480" y="3566160"/>
            <a:ext cx="320040" cy="457200"/>
          </a:xfrm>
          <a:prstGeom prst="rect">
            <a:avLst/>
          </a:prstGeom>
          <a:noFill/>
          <a:ln/>
        </p:spPr>
        <p:txBody>
          <a:bodyPr wrap="square" lIns="0" tIns="0" rIns="0" bIns="0" rtlCol="0" anchor="ctr"/>
          <a:lstStyle/>
          <a:p>
            <a:pPr marL="0" indent="0" algn="ctr">
              <a:buNone/>
            </a:pPr>
            <a:r>
              <a:rPr lang="en-US" sz="2000" b="1" dirty="0">
                <a:solidFill>
                  <a:srgbClr val="F4A300"/>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0" y="1920240"/>
            <a:ext cx="2697480" cy="3749040"/>
          </a:xfrm>
          <a:prstGeom prst="roundRect">
            <a:avLst>
              <a:gd name="adj" fmla="val 3390"/>
            </a:avLst>
          </a:prstGeom>
          <a:solidFill>
            <a:srgbClr val="F5F9FC"/>
          </a:solidFill>
          <a:ln/>
        </p:spPr>
        <p:txBody>
          <a:bodyPr/>
          <a:lstStyle/>
          <a:p>
            <a:endParaRPr lang="en-IN"/>
          </a:p>
        </p:txBody>
      </p:sp>
      <p:sp>
        <p:nvSpPr>
          <p:cNvPr id="17" name="Shape 15"/>
          <p:cNvSpPr/>
          <p:nvPr/>
        </p:nvSpPr>
        <p:spPr>
          <a:xfrm>
            <a:off x="6629400" y="2194560"/>
            <a:ext cx="640080" cy="640080"/>
          </a:xfrm>
          <a:prstGeom prst="ellipse">
            <a:avLst/>
          </a:prstGeom>
          <a:solidFill>
            <a:srgbClr val="0B3D5C"/>
          </a:solidFill>
          <a:ln/>
        </p:spPr>
        <p:txBody>
          <a:bodyPr/>
          <a:lstStyle/>
          <a:p>
            <a:endParaRPr lang="en-IN"/>
          </a:p>
        </p:txBody>
      </p:sp>
      <p:sp>
        <p:nvSpPr>
          <p:cNvPr id="18" name="Text 16"/>
          <p:cNvSpPr txBox="1"/>
          <p:nvPr/>
        </p:nvSpPr>
        <p:spPr>
          <a:xfrm>
            <a:off x="6629400" y="219456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03</a:t>
            </a:r>
            <a:endParaRPr lang="en-US" sz="2000" dirty="0"/>
          </a:p>
        </p:txBody>
      </p:sp>
      <p:sp>
        <p:nvSpPr>
          <p:cNvPr id="19" name="Text 17"/>
          <p:cNvSpPr txBox="1"/>
          <p:nvPr/>
        </p:nvSpPr>
        <p:spPr>
          <a:xfrm>
            <a:off x="6629400" y="3017520"/>
            <a:ext cx="2240280" cy="640080"/>
          </a:xfrm>
          <a:prstGeom prst="rect">
            <a:avLst/>
          </a:prstGeom>
          <a:noFill/>
          <a:ln/>
        </p:spPr>
        <p:txBody>
          <a:bodyPr wrap="square" lIns="0" tIns="0" rIns="0" bIns="0" rtlCol="0" anchor="ctr"/>
          <a:lstStyle/>
          <a:p>
            <a:pPr marL="0" indent="0">
              <a:buNone/>
            </a:pPr>
            <a:r>
              <a:rPr lang="en-US" sz="1500" b="1" dirty="0">
                <a:solidFill>
                  <a:srgbClr val="1A2733"/>
                </a:solidFill>
                <a:latin typeface="Calibri" pitchFamily="34" charset="0"/>
                <a:ea typeface="Calibri" pitchFamily="34" charset="-122"/>
                <a:cs typeface="Calibri" pitchFamily="34" charset="-120"/>
              </a:rPr>
              <a:t>Analytics &amp; Insights</a:t>
            </a:r>
            <a:endParaRPr lang="en-US" sz="1500" dirty="0"/>
          </a:p>
        </p:txBody>
      </p:sp>
      <p:sp>
        <p:nvSpPr>
          <p:cNvPr id="20" name="Text 18"/>
          <p:cNvSpPr txBox="1"/>
          <p:nvPr/>
        </p:nvSpPr>
        <p:spPr>
          <a:xfrm>
            <a:off x="6629400" y="3657600"/>
            <a:ext cx="2240280" cy="1737360"/>
          </a:xfrm>
          <a:prstGeom prst="rect">
            <a:avLst/>
          </a:prstGeom>
          <a:noFill/>
          <a:ln/>
        </p:spPr>
        <p:txBody>
          <a:bodyPr wrap="square" lIns="0" tIns="0" rIns="0" bIns="0" rtlCol="0" anchor="ctr"/>
          <a:lstStyle/>
          <a:p>
            <a:pPr marL="0" indent="0">
              <a:lnSpc>
                <a:spcPct val="120000"/>
              </a:lnSpc>
              <a:buNone/>
            </a:pPr>
            <a:r>
              <a:rPr lang="en-US" sz="1150" dirty="0">
                <a:solidFill>
                  <a:srgbClr val="5C7080"/>
                </a:solidFill>
                <a:latin typeface="Calibri" pitchFamily="34" charset="0"/>
                <a:ea typeface="Calibri" pitchFamily="34" charset="-122"/>
                <a:cs typeface="Calibri" pitchFamily="34" charset="-120"/>
              </a:rPr>
              <a:t>Joins, subqueries, GROUP BY, window functions, CTEs</a:t>
            </a:r>
            <a:endParaRPr lang="en-US" sz="1150" dirty="0"/>
          </a:p>
        </p:txBody>
      </p:sp>
      <p:sp>
        <p:nvSpPr>
          <p:cNvPr id="21" name="Text 19"/>
          <p:cNvSpPr txBox="1"/>
          <p:nvPr/>
        </p:nvSpPr>
        <p:spPr>
          <a:xfrm>
            <a:off x="9052560" y="3566160"/>
            <a:ext cx="320040" cy="457200"/>
          </a:xfrm>
          <a:prstGeom prst="rect">
            <a:avLst/>
          </a:prstGeom>
          <a:noFill/>
          <a:ln/>
        </p:spPr>
        <p:txBody>
          <a:bodyPr wrap="square" lIns="0" tIns="0" rIns="0" bIns="0" rtlCol="0" anchor="ctr"/>
          <a:lstStyle/>
          <a:p>
            <a:pPr marL="0" indent="0" algn="ctr">
              <a:buNone/>
            </a:pPr>
            <a:r>
              <a:rPr lang="en-US" sz="2000" b="1" dirty="0">
                <a:solidFill>
                  <a:srgbClr val="F4A300"/>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9326880" y="1920240"/>
            <a:ext cx="2697480" cy="3749040"/>
          </a:xfrm>
          <a:prstGeom prst="roundRect">
            <a:avLst>
              <a:gd name="adj" fmla="val 3390"/>
            </a:avLst>
          </a:prstGeom>
          <a:solidFill>
            <a:srgbClr val="F5F9FC"/>
          </a:solidFill>
          <a:ln/>
        </p:spPr>
        <p:txBody>
          <a:bodyPr/>
          <a:lstStyle/>
          <a:p>
            <a:endParaRPr lang="en-IN"/>
          </a:p>
        </p:txBody>
      </p:sp>
      <p:sp>
        <p:nvSpPr>
          <p:cNvPr id="23" name="Shape 21"/>
          <p:cNvSpPr/>
          <p:nvPr/>
        </p:nvSpPr>
        <p:spPr>
          <a:xfrm>
            <a:off x="9555480" y="2194560"/>
            <a:ext cx="640080" cy="640080"/>
          </a:xfrm>
          <a:prstGeom prst="ellipse">
            <a:avLst/>
          </a:prstGeom>
          <a:solidFill>
            <a:srgbClr val="1C7293"/>
          </a:solidFill>
          <a:ln/>
        </p:spPr>
        <p:txBody>
          <a:bodyPr/>
          <a:lstStyle/>
          <a:p>
            <a:endParaRPr lang="en-IN"/>
          </a:p>
        </p:txBody>
      </p:sp>
      <p:sp>
        <p:nvSpPr>
          <p:cNvPr id="24" name="Text 22"/>
          <p:cNvSpPr txBox="1"/>
          <p:nvPr/>
        </p:nvSpPr>
        <p:spPr>
          <a:xfrm>
            <a:off x="9555480" y="219456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04</a:t>
            </a:r>
            <a:endParaRPr lang="en-US" sz="2000" dirty="0"/>
          </a:p>
        </p:txBody>
      </p:sp>
      <p:sp>
        <p:nvSpPr>
          <p:cNvPr id="25" name="Text 23"/>
          <p:cNvSpPr txBox="1"/>
          <p:nvPr/>
        </p:nvSpPr>
        <p:spPr>
          <a:xfrm>
            <a:off x="9555480" y="3017520"/>
            <a:ext cx="2240280" cy="640080"/>
          </a:xfrm>
          <a:prstGeom prst="rect">
            <a:avLst/>
          </a:prstGeom>
          <a:noFill/>
          <a:ln/>
        </p:spPr>
        <p:txBody>
          <a:bodyPr wrap="square" lIns="0" tIns="0" rIns="0" bIns="0" rtlCol="0" anchor="ctr"/>
          <a:lstStyle/>
          <a:p>
            <a:pPr marL="0" indent="0">
              <a:buNone/>
            </a:pPr>
            <a:r>
              <a:rPr lang="en-US" sz="1500" b="1" dirty="0">
                <a:solidFill>
                  <a:srgbClr val="1A2733"/>
                </a:solidFill>
                <a:latin typeface="Calibri" pitchFamily="34" charset="0"/>
                <a:ea typeface="Calibri" pitchFamily="34" charset="-122"/>
                <a:cs typeface="Calibri" pitchFamily="34" charset="-120"/>
              </a:rPr>
              <a:t>Visualization</a:t>
            </a:r>
            <a:endParaRPr lang="en-US" sz="1500" dirty="0"/>
          </a:p>
        </p:txBody>
      </p:sp>
      <p:sp>
        <p:nvSpPr>
          <p:cNvPr id="26" name="Text 24"/>
          <p:cNvSpPr txBox="1"/>
          <p:nvPr/>
        </p:nvSpPr>
        <p:spPr>
          <a:xfrm>
            <a:off x="9555480" y="3657600"/>
            <a:ext cx="2240280" cy="1737360"/>
          </a:xfrm>
          <a:prstGeom prst="rect">
            <a:avLst/>
          </a:prstGeom>
          <a:noFill/>
          <a:ln/>
        </p:spPr>
        <p:txBody>
          <a:bodyPr wrap="square" lIns="0" tIns="0" rIns="0" bIns="0" rtlCol="0" anchor="ctr"/>
          <a:lstStyle/>
          <a:p>
            <a:pPr marL="0" indent="0">
              <a:lnSpc>
                <a:spcPct val="120000"/>
              </a:lnSpc>
              <a:buNone/>
            </a:pPr>
            <a:r>
              <a:rPr lang="en-US" sz="1150" dirty="0">
                <a:solidFill>
                  <a:srgbClr val="5C7080"/>
                </a:solidFill>
                <a:latin typeface="Calibri" pitchFamily="34" charset="0"/>
                <a:ea typeface="Calibri" pitchFamily="34" charset="-122"/>
                <a:cs typeface="Calibri" pitchFamily="34" charset="-120"/>
              </a:rPr>
              <a:t>Views and query results ready to feed a dashboard</a:t>
            </a:r>
            <a:endParaRPr lang="en-US" sz="1150" dirty="0"/>
          </a:p>
        </p:txBody>
      </p:sp>
      <p:sp>
        <p:nvSpPr>
          <p:cNvPr id="27" name="Text 25"/>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5C7080"/>
                </a:solidFill>
                <a:latin typeface="Calibri" pitchFamily="34" charset="0"/>
                <a:ea typeface="Calibri" pitchFamily="34" charset="-122"/>
                <a:cs typeface="Calibri"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STAGE 01 · DEFINE QUESTIONS</a:t>
            </a:r>
            <a:endParaRPr lang="en-US" sz="1300" dirty="0"/>
          </a:p>
        </p:txBody>
      </p:sp>
      <p:sp>
        <p:nvSpPr>
          <p:cNvPr id="3" name="Text 1"/>
          <p:cNvSpPr txBox="1"/>
          <p:nvPr/>
        </p:nvSpPr>
        <p:spPr>
          <a:xfrm>
            <a:off x="548640" y="822960"/>
            <a:ext cx="10515600" cy="640080"/>
          </a:xfrm>
          <a:prstGeom prst="rect">
            <a:avLst/>
          </a:prstGeom>
          <a:noFill/>
          <a:ln/>
        </p:spPr>
        <p:txBody>
          <a:bodyPr wrap="square" lIns="0" tIns="0" rIns="0" bIns="0" rtlCol="0" anchor="ctr"/>
          <a:lstStyle/>
          <a:p>
            <a:pPr marL="0" indent="0">
              <a:buNone/>
            </a:pPr>
            <a:r>
              <a:rPr lang="en-US" sz="2700" b="1" dirty="0">
                <a:solidFill>
                  <a:srgbClr val="1A2733"/>
                </a:solidFill>
                <a:latin typeface="Cambria" pitchFamily="34" charset="0"/>
                <a:ea typeface="Cambria" pitchFamily="34" charset="-122"/>
                <a:cs typeface="Cambria" pitchFamily="34" charset="-120"/>
              </a:rPr>
              <a:t>The questions SkyBookDB needs to answer</a:t>
            </a:r>
            <a:endParaRPr lang="en-US" sz="2700" dirty="0"/>
          </a:p>
        </p:txBody>
      </p:sp>
      <p:sp>
        <p:nvSpPr>
          <p:cNvPr id="4" name="Shape 2"/>
          <p:cNvSpPr/>
          <p:nvPr/>
        </p:nvSpPr>
        <p:spPr>
          <a:xfrm>
            <a:off x="548640" y="1828800"/>
            <a:ext cx="457200" cy="457200"/>
          </a:xfrm>
          <a:prstGeom prst="roundRect">
            <a:avLst>
              <a:gd name="adj" fmla="val 16000"/>
            </a:avLst>
          </a:prstGeom>
          <a:solidFill>
            <a:srgbClr val="0B3D5C"/>
          </a:solidFill>
          <a:ln/>
        </p:spPr>
        <p:txBody>
          <a:bodyPr/>
          <a:lstStyle/>
          <a:p>
            <a:endParaRPr lang="en-IN"/>
          </a:p>
        </p:txBody>
      </p:sp>
      <p:sp>
        <p:nvSpPr>
          <p:cNvPr id="5" name="Text 3"/>
          <p:cNvSpPr txBox="1"/>
          <p:nvPr/>
        </p:nvSpPr>
        <p:spPr>
          <a:xfrm>
            <a:off x="548640" y="18288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88720" y="1847088"/>
            <a:ext cx="9875520" cy="457200"/>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Which flights and routes generate the most revenue?</a:t>
            </a:r>
            <a:endParaRPr lang="en-US" sz="1500" dirty="0"/>
          </a:p>
        </p:txBody>
      </p:sp>
      <p:sp>
        <p:nvSpPr>
          <p:cNvPr id="7" name="Shape 5"/>
          <p:cNvSpPr/>
          <p:nvPr/>
        </p:nvSpPr>
        <p:spPr>
          <a:xfrm>
            <a:off x="548640" y="2514600"/>
            <a:ext cx="457200" cy="457200"/>
          </a:xfrm>
          <a:prstGeom prst="roundRect">
            <a:avLst>
              <a:gd name="adj" fmla="val 16000"/>
            </a:avLst>
          </a:prstGeom>
          <a:solidFill>
            <a:srgbClr val="1C7293"/>
          </a:solidFill>
          <a:ln/>
        </p:spPr>
        <p:txBody>
          <a:bodyPr/>
          <a:lstStyle/>
          <a:p>
            <a:endParaRPr lang="en-IN"/>
          </a:p>
        </p:txBody>
      </p:sp>
      <p:sp>
        <p:nvSpPr>
          <p:cNvPr id="8" name="Text 6"/>
          <p:cNvSpPr txBox="1"/>
          <p:nvPr/>
        </p:nvSpPr>
        <p:spPr>
          <a:xfrm>
            <a:off x="548640" y="2514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88720" y="2532888"/>
            <a:ext cx="9875520" cy="457200"/>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Who are the highest-spending passengers, and how do they rank?</a:t>
            </a:r>
            <a:endParaRPr lang="en-US" sz="1500" dirty="0"/>
          </a:p>
        </p:txBody>
      </p:sp>
      <p:sp>
        <p:nvSpPr>
          <p:cNvPr id="10" name="Shape 8"/>
          <p:cNvSpPr/>
          <p:nvPr/>
        </p:nvSpPr>
        <p:spPr>
          <a:xfrm>
            <a:off x="548640" y="3200400"/>
            <a:ext cx="457200" cy="457200"/>
          </a:xfrm>
          <a:prstGeom prst="roundRect">
            <a:avLst>
              <a:gd name="adj" fmla="val 16000"/>
            </a:avLst>
          </a:prstGeom>
          <a:solidFill>
            <a:srgbClr val="0B3D5C"/>
          </a:solidFill>
          <a:ln/>
        </p:spPr>
        <p:txBody>
          <a:bodyPr/>
          <a:lstStyle/>
          <a:p>
            <a:endParaRPr lang="en-IN"/>
          </a:p>
        </p:txBody>
      </p:sp>
      <p:sp>
        <p:nvSpPr>
          <p:cNvPr id="11" name="Text 9"/>
          <p:cNvSpPr txBox="1"/>
          <p:nvPr/>
        </p:nvSpPr>
        <p:spPr>
          <a:xfrm>
            <a:off x="548640" y="3200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88720" y="3218688"/>
            <a:ext cx="9875520" cy="457200"/>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How is revenue trending day over day — and what's the cumulative total?</a:t>
            </a:r>
            <a:endParaRPr lang="en-US" sz="1500" dirty="0"/>
          </a:p>
        </p:txBody>
      </p:sp>
      <p:sp>
        <p:nvSpPr>
          <p:cNvPr id="13" name="Shape 11"/>
          <p:cNvSpPr/>
          <p:nvPr/>
        </p:nvSpPr>
        <p:spPr>
          <a:xfrm>
            <a:off x="548640" y="3886200"/>
            <a:ext cx="457200" cy="457200"/>
          </a:xfrm>
          <a:prstGeom prst="roundRect">
            <a:avLst>
              <a:gd name="adj" fmla="val 16000"/>
            </a:avLst>
          </a:prstGeom>
          <a:solidFill>
            <a:srgbClr val="1C7293"/>
          </a:solidFill>
          <a:ln/>
        </p:spPr>
        <p:txBody>
          <a:bodyPr/>
          <a:lstStyle/>
          <a:p>
            <a:endParaRPr lang="en-IN"/>
          </a:p>
        </p:txBody>
      </p:sp>
      <p:sp>
        <p:nvSpPr>
          <p:cNvPr id="14" name="Text 12"/>
          <p:cNvSpPr txBox="1"/>
          <p:nvPr/>
        </p:nvSpPr>
        <p:spPr>
          <a:xfrm>
            <a:off x="548640" y="38862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88720" y="3904488"/>
            <a:ext cx="9875520" cy="457200"/>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Which payment methods do passengers actually use?</a:t>
            </a:r>
            <a:endParaRPr lang="en-US" sz="1500" dirty="0"/>
          </a:p>
        </p:txBody>
      </p:sp>
      <p:sp>
        <p:nvSpPr>
          <p:cNvPr id="16" name="Shape 14"/>
          <p:cNvSpPr/>
          <p:nvPr/>
        </p:nvSpPr>
        <p:spPr>
          <a:xfrm>
            <a:off x="548640" y="4572000"/>
            <a:ext cx="457200" cy="457200"/>
          </a:xfrm>
          <a:prstGeom prst="roundRect">
            <a:avLst>
              <a:gd name="adj" fmla="val 16000"/>
            </a:avLst>
          </a:prstGeom>
          <a:solidFill>
            <a:srgbClr val="0B3D5C"/>
          </a:solidFill>
          <a:ln/>
        </p:spPr>
        <p:txBody>
          <a:bodyPr/>
          <a:lstStyle/>
          <a:p>
            <a:endParaRPr lang="en-IN"/>
          </a:p>
        </p:txBody>
      </p:sp>
      <p:sp>
        <p:nvSpPr>
          <p:cNvPr id="17" name="Text 15"/>
          <p:cNvSpPr txBox="1"/>
          <p:nvPr/>
        </p:nvSpPr>
        <p:spPr>
          <a:xfrm>
            <a:off x="548640" y="4572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88720" y="4590288"/>
            <a:ext cx="9875520" cy="457200"/>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Which flights are under-booked or never booked at all?</a:t>
            </a:r>
            <a:endParaRPr lang="en-US" sz="1500" dirty="0"/>
          </a:p>
        </p:txBody>
      </p:sp>
      <p:sp>
        <p:nvSpPr>
          <p:cNvPr id="19" name="Shape 17"/>
          <p:cNvSpPr/>
          <p:nvPr/>
        </p:nvSpPr>
        <p:spPr>
          <a:xfrm>
            <a:off x="548640" y="5257800"/>
            <a:ext cx="457200" cy="457200"/>
          </a:xfrm>
          <a:prstGeom prst="roundRect">
            <a:avLst>
              <a:gd name="adj" fmla="val 16000"/>
            </a:avLst>
          </a:prstGeom>
          <a:solidFill>
            <a:srgbClr val="1C7293"/>
          </a:solidFill>
          <a:ln/>
        </p:spPr>
        <p:txBody>
          <a:bodyPr/>
          <a:lstStyle/>
          <a:p>
            <a:endParaRPr lang="en-IN"/>
          </a:p>
        </p:txBody>
      </p:sp>
      <p:sp>
        <p:nvSpPr>
          <p:cNvPr id="20" name="Text 18"/>
          <p:cNvSpPr txBox="1"/>
          <p:nvPr/>
        </p:nvSpPr>
        <p:spPr>
          <a:xfrm>
            <a:off x="548640" y="52578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1" name="Text 19"/>
          <p:cNvSpPr txBox="1"/>
          <p:nvPr/>
        </p:nvSpPr>
        <p:spPr>
          <a:xfrm>
            <a:off x="1188720" y="5276088"/>
            <a:ext cx="9875520" cy="457200"/>
          </a:xfrm>
          <a:prstGeom prst="rect">
            <a:avLst/>
          </a:prstGeom>
          <a:noFill/>
          <a:ln/>
        </p:spPr>
        <p:txBody>
          <a:bodyPr wrap="square" lIns="0" tIns="0" rIns="0" bIns="0" rtlCol="0" anchor="ctr"/>
          <a:lstStyle/>
          <a:p>
            <a:pPr marL="0" indent="0">
              <a:buNone/>
            </a:pPr>
            <a:r>
              <a:rPr lang="en-US" sz="1500" dirty="0">
                <a:solidFill>
                  <a:srgbClr val="1A2733"/>
                </a:solidFill>
                <a:latin typeface="Calibri" pitchFamily="34" charset="0"/>
                <a:ea typeface="Calibri" pitchFamily="34" charset="-122"/>
                <a:cs typeface="Calibri" pitchFamily="34" charset="-120"/>
              </a:rPr>
              <a:t>How does each flight's fare compare to the one before it on the calendar?</a:t>
            </a:r>
            <a:endParaRPr lang="en-US" sz="1500" dirty="0"/>
          </a:p>
        </p:txBody>
      </p:sp>
      <p:sp>
        <p:nvSpPr>
          <p:cNvPr id="22" name="Text 20"/>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5C7080"/>
                </a:solidFill>
                <a:latin typeface="Calibri" pitchFamily="34" charset="0"/>
                <a:ea typeface="Calibri" pitchFamily="34" charset="-122"/>
                <a:cs typeface="Calibri"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STAGE 02 · DATA PREP &amp; EXPLORATION</a:t>
            </a:r>
            <a:endParaRPr lang="en-US" sz="1300" dirty="0"/>
          </a:p>
        </p:txBody>
      </p:sp>
      <p:sp>
        <p:nvSpPr>
          <p:cNvPr id="3" name="Text 1"/>
          <p:cNvSpPr txBox="1"/>
          <p:nvPr/>
        </p:nvSpPr>
        <p:spPr>
          <a:xfrm>
            <a:off x="548640" y="822960"/>
            <a:ext cx="10058400" cy="548640"/>
          </a:xfrm>
          <a:prstGeom prst="rect">
            <a:avLst/>
          </a:prstGeom>
          <a:noFill/>
          <a:ln/>
        </p:spPr>
        <p:txBody>
          <a:bodyPr wrap="square" lIns="0" tIns="0" rIns="0" bIns="0" rtlCol="0" anchor="ctr"/>
          <a:lstStyle/>
          <a:p>
            <a:pPr marL="0" indent="0">
              <a:buNone/>
            </a:pPr>
            <a:r>
              <a:rPr lang="en-US" sz="2700" b="1" dirty="0">
                <a:solidFill>
                  <a:srgbClr val="1A2733"/>
                </a:solidFill>
                <a:latin typeface="Cambria" pitchFamily="34" charset="0"/>
                <a:ea typeface="Cambria" pitchFamily="34" charset="-122"/>
                <a:cs typeface="Cambria" pitchFamily="34" charset="-120"/>
              </a:rPr>
              <a:t>Schema: five tables, four relationships</a:t>
            </a:r>
            <a:endParaRPr lang="en-US" sz="2700" dirty="0"/>
          </a:p>
        </p:txBody>
      </p:sp>
      <p:sp>
        <p:nvSpPr>
          <p:cNvPr id="4" name="Shape 2"/>
          <p:cNvSpPr/>
          <p:nvPr/>
        </p:nvSpPr>
        <p:spPr>
          <a:xfrm>
            <a:off x="457200" y="1828800"/>
            <a:ext cx="2148840" cy="457200"/>
          </a:xfrm>
          <a:prstGeom prst="roundRect">
            <a:avLst>
              <a:gd name="adj" fmla="val 12000"/>
            </a:avLst>
          </a:prstGeom>
          <a:solidFill>
            <a:srgbClr val="0B3D5C"/>
          </a:solidFill>
          <a:ln/>
        </p:spPr>
        <p:txBody>
          <a:bodyPr/>
          <a:lstStyle/>
          <a:p>
            <a:endParaRPr lang="en-IN"/>
          </a:p>
        </p:txBody>
      </p:sp>
      <p:sp>
        <p:nvSpPr>
          <p:cNvPr id="5" name="Text 3"/>
          <p:cNvSpPr txBox="1"/>
          <p:nvPr/>
        </p:nvSpPr>
        <p:spPr>
          <a:xfrm>
            <a:off x="457200" y="1828800"/>
            <a:ext cx="21488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Airports</a:t>
            </a:r>
            <a:endParaRPr lang="en-US" sz="1300" dirty="0"/>
          </a:p>
        </p:txBody>
      </p:sp>
      <p:sp>
        <p:nvSpPr>
          <p:cNvPr id="6" name="Shape 4"/>
          <p:cNvSpPr/>
          <p:nvPr/>
        </p:nvSpPr>
        <p:spPr>
          <a:xfrm>
            <a:off x="457200" y="2286000"/>
            <a:ext cx="2148840" cy="1161288"/>
          </a:xfrm>
          <a:prstGeom prst="roundRect">
            <a:avLst>
              <a:gd name="adj" fmla="val 4724"/>
            </a:avLst>
          </a:prstGeom>
          <a:solidFill>
            <a:srgbClr val="F5F9FC"/>
          </a:solidFill>
          <a:ln w="9525">
            <a:solidFill>
              <a:srgbClr val="D8E2E8"/>
            </a:solidFill>
            <a:prstDash val="solid"/>
          </a:ln>
        </p:spPr>
        <p:txBody>
          <a:bodyPr/>
          <a:lstStyle/>
          <a:p>
            <a:endParaRPr lang="en-IN"/>
          </a:p>
        </p:txBody>
      </p:sp>
      <p:sp>
        <p:nvSpPr>
          <p:cNvPr id="7" name="Text 5"/>
          <p:cNvSpPr txBox="1"/>
          <p:nvPr/>
        </p:nvSpPr>
        <p:spPr>
          <a:xfrm>
            <a:off x="566928" y="2359152"/>
            <a:ext cx="1929384" cy="1024128"/>
          </a:xfrm>
          <a:prstGeom prst="rect">
            <a:avLst/>
          </a:prstGeom>
          <a:noFill/>
          <a:ln/>
        </p:spPr>
        <p:txBody>
          <a:bodyPr wrap="square" lIns="0" tIns="0" rIns="0" bIns="0" rtlCol="0" anchor="ctr"/>
          <a:lstStyle/>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Airport_Code (PK)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Airport_Name</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City</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Country</a:t>
            </a:r>
            <a:endParaRPr lang="en-US" sz="1050" dirty="0"/>
          </a:p>
        </p:txBody>
      </p:sp>
      <p:sp>
        <p:nvSpPr>
          <p:cNvPr id="8" name="Shape 6"/>
          <p:cNvSpPr/>
          <p:nvPr/>
        </p:nvSpPr>
        <p:spPr>
          <a:xfrm>
            <a:off x="3017520" y="1234440"/>
            <a:ext cx="2331720" cy="457200"/>
          </a:xfrm>
          <a:prstGeom prst="roundRect">
            <a:avLst>
              <a:gd name="adj" fmla="val 12000"/>
            </a:avLst>
          </a:prstGeom>
          <a:solidFill>
            <a:srgbClr val="1C7293"/>
          </a:solidFill>
          <a:ln/>
        </p:spPr>
        <p:txBody>
          <a:bodyPr/>
          <a:lstStyle/>
          <a:p>
            <a:endParaRPr lang="en-IN"/>
          </a:p>
        </p:txBody>
      </p:sp>
      <p:sp>
        <p:nvSpPr>
          <p:cNvPr id="9" name="Text 7"/>
          <p:cNvSpPr txBox="1"/>
          <p:nvPr/>
        </p:nvSpPr>
        <p:spPr>
          <a:xfrm>
            <a:off x="3017520" y="1234440"/>
            <a:ext cx="23317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Flights</a:t>
            </a:r>
            <a:endParaRPr lang="en-US" sz="1300" dirty="0"/>
          </a:p>
        </p:txBody>
      </p:sp>
      <p:sp>
        <p:nvSpPr>
          <p:cNvPr id="10" name="Shape 8"/>
          <p:cNvSpPr/>
          <p:nvPr/>
        </p:nvSpPr>
        <p:spPr>
          <a:xfrm>
            <a:off x="3017520" y="1691640"/>
            <a:ext cx="2331720" cy="1161288"/>
          </a:xfrm>
          <a:prstGeom prst="roundRect">
            <a:avLst>
              <a:gd name="adj" fmla="val 4724"/>
            </a:avLst>
          </a:prstGeom>
          <a:solidFill>
            <a:srgbClr val="F5F9FC"/>
          </a:solidFill>
          <a:ln w="9525">
            <a:solidFill>
              <a:srgbClr val="D8E2E8"/>
            </a:solidFill>
            <a:prstDash val="solid"/>
          </a:ln>
        </p:spPr>
        <p:txBody>
          <a:bodyPr/>
          <a:lstStyle/>
          <a:p>
            <a:endParaRPr lang="en-IN"/>
          </a:p>
        </p:txBody>
      </p:sp>
      <p:sp>
        <p:nvSpPr>
          <p:cNvPr id="11" name="Text 9"/>
          <p:cNvSpPr txBox="1"/>
          <p:nvPr/>
        </p:nvSpPr>
        <p:spPr>
          <a:xfrm>
            <a:off x="3127248" y="1764792"/>
            <a:ext cx="2112264" cy="1024128"/>
          </a:xfrm>
          <a:prstGeom prst="rect">
            <a:avLst/>
          </a:prstGeom>
          <a:noFill/>
          <a:ln/>
        </p:spPr>
        <p:txBody>
          <a:bodyPr wrap="square" lIns="0" tIns="0" rIns="0" bIns="0" rtlCol="0" anchor="ctr"/>
          <a:lstStyle/>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Flight_ID (PK)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Origin_Code (FK)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Destination_Code (FK)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Airline, Fare, Times</a:t>
            </a:r>
            <a:endParaRPr lang="en-US" sz="1050" dirty="0"/>
          </a:p>
        </p:txBody>
      </p:sp>
      <p:sp>
        <p:nvSpPr>
          <p:cNvPr id="12" name="Shape 10"/>
          <p:cNvSpPr/>
          <p:nvPr/>
        </p:nvSpPr>
        <p:spPr>
          <a:xfrm>
            <a:off x="5806440" y="1828800"/>
            <a:ext cx="2148840" cy="457200"/>
          </a:xfrm>
          <a:prstGeom prst="roundRect">
            <a:avLst>
              <a:gd name="adj" fmla="val 12000"/>
            </a:avLst>
          </a:prstGeom>
          <a:solidFill>
            <a:srgbClr val="0B3D5C"/>
          </a:solidFill>
          <a:ln/>
        </p:spPr>
        <p:txBody>
          <a:bodyPr/>
          <a:lstStyle/>
          <a:p>
            <a:endParaRPr lang="en-IN"/>
          </a:p>
        </p:txBody>
      </p:sp>
      <p:sp>
        <p:nvSpPr>
          <p:cNvPr id="13" name="Text 11"/>
          <p:cNvSpPr txBox="1"/>
          <p:nvPr/>
        </p:nvSpPr>
        <p:spPr>
          <a:xfrm>
            <a:off x="5806440" y="1828800"/>
            <a:ext cx="21488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Passengers</a:t>
            </a:r>
            <a:endParaRPr lang="en-US" sz="1300" dirty="0"/>
          </a:p>
        </p:txBody>
      </p:sp>
      <p:sp>
        <p:nvSpPr>
          <p:cNvPr id="14" name="Shape 12"/>
          <p:cNvSpPr/>
          <p:nvPr/>
        </p:nvSpPr>
        <p:spPr>
          <a:xfrm>
            <a:off x="5806440" y="2286000"/>
            <a:ext cx="2148840" cy="905256"/>
          </a:xfrm>
          <a:prstGeom prst="roundRect">
            <a:avLst>
              <a:gd name="adj" fmla="val 6061"/>
            </a:avLst>
          </a:prstGeom>
          <a:solidFill>
            <a:srgbClr val="F5F9FC"/>
          </a:solidFill>
          <a:ln w="9525">
            <a:solidFill>
              <a:srgbClr val="D8E2E8"/>
            </a:solidFill>
            <a:prstDash val="solid"/>
          </a:ln>
        </p:spPr>
        <p:txBody>
          <a:bodyPr/>
          <a:lstStyle/>
          <a:p>
            <a:endParaRPr lang="en-IN"/>
          </a:p>
        </p:txBody>
      </p:sp>
      <p:sp>
        <p:nvSpPr>
          <p:cNvPr id="15" name="Text 13"/>
          <p:cNvSpPr txBox="1"/>
          <p:nvPr/>
        </p:nvSpPr>
        <p:spPr>
          <a:xfrm>
            <a:off x="5916168" y="2359152"/>
            <a:ext cx="1929384" cy="768096"/>
          </a:xfrm>
          <a:prstGeom prst="rect">
            <a:avLst/>
          </a:prstGeom>
          <a:noFill/>
          <a:ln/>
        </p:spPr>
        <p:txBody>
          <a:bodyPr wrap="square" lIns="0" tIns="0" rIns="0" bIns="0" rtlCol="0" anchor="ctr"/>
          <a:lstStyle/>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Passenger_ID (PK)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Name, Age, Gender</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Contact, Email</a:t>
            </a:r>
            <a:endParaRPr lang="en-US" sz="1050" dirty="0"/>
          </a:p>
        </p:txBody>
      </p:sp>
      <p:sp>
        <p:nvSpPr>
          <p:cNvPr id="16" name="Shape 14"/>
          <p:cNvSpPr/>
          <p:nvPr/>
        </p:nvSpPr>
        <p:spPr>
          <a:xfrm>
            <a:off x="3017520" y="3931920"/>
            <a:ext cx="2331720" cy="457200"/>
          </a:xfrm>
          <a:prstGeom prst="roundRect">
            <a:avLst>
              <a:gd name="adj" fmla="val 12000"/>
            </a:avLst>
          </a:prstGeom>
          <a:solidFill>
            <a:srgbClr val="F4A300"/>
          </a:solidFill>
          <a:ln/>
        </p:spPr>
        <p:txBody>
          <a:bodyPr/>
          <a:lstStyle/>
          <a:p>
            <a:endParaRPr lang="en-IN"/>
          </a:p>
        </p:txBody>
      </p:sp>
      <p:sp>
        <p:nvSpPr>
          <p:cNvPr id="17" name="Text 15"/>
          <p:cNvSpPr txBox="1"/>
          <p:nvPr/>
        </p:nvSpPr>
        <p:spPr>
          <a:xfrm>
            <a:off x="3017520" y="3931920"/>
            <a:ext cx="23317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Bookings</a:t>
            </a:r>
            <a:endParaRPr lang="en-US" sz="1300" dirty="0"/>
          </a:p>
        </p:txBody>
      </p:sp>
      <p:sp>
        <p:nvSpPr>
          <p:cNvPr id="18" name="Shape 16"/>
          <p:cNvSpPr/>
          <p:nvPr/>
        </p:nvSpPr>
        <p:spPr>
          <a:xfrm>
            <a:off x="3017520" y="4389120"/>
            <a:ext cx="2331720" cy="1161288"/>
          </a:xfrm>
          <a:prstGeom prst="roundRect">
            <a:avLst>
              <a:gd name="adj" fmla="val 4724"/>
            </a:avLst>
          </a:prstGeom>
          <a:solidFill>
            <a:srgbClr val="F5F9FC"/>
          </a:solidFill>
          <a:ln w="9525">
            <a:solidFill>
              <a:srgbClr val="D8E2E8"/>
            </a:solidFill>
            <a:prstDash val="solid"/>
          </a:ln>
        </p:spPr>
        <p:txBody>
          <a:bodyPr/>
          <a:lstStyle/>
          <a:p>
            <a:endParaRPr lang="en-IN"/>
          </a:p>
        </p:txBody>
      </p:sp>
      <p:sp>
        <p:nvSpPr>
          <p:cNvPr id="19" name="Text 17"/>
          <p:cNvSpPr txBox="1"/>
          <p:nvPr/>
        </p:nvSpPr>
        <p:spPr>
          <a:xfrm>
            <a:off x="3127248" y="4462272"/>
            <a:ext cx="2112264" cy="1024128"/>
          </a:xfrm>
          <a:prstGeom prst="rect">
            <a:avLst/>
          </a:prstGeom>
          <a:noFill/>
          <a:ln/>
        </p:spPr>
        <p:txBody>
          <a:bodyPr wrap="square" lIns="0" tIns="0" rIns="0" bIns="0" rtlCol="0" anchor="ctr"/>
          <a:lstStyle/>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Booking_ID (PK)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Passenger_ID (FK)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Flight_ID (FK)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Seat_Class, Status</a:t>
            </a:r>
            <a:endParaRPr lang="en-US" sz="1050" dirty="0"/>
          </a:p>
        </p:txBody>
      </p:sp>
      <p:sp>
        <p:nvSpPr>
          <p:cNvPr id="20" name="Shape 18"/>
          <p:cNvSpPr/>
          <p:nvPr/>
        </p:nvSpPr>
        <p:spPr>
          <a:xfrm>
            <a:off x="6035040" y="3931920"/>
            <a:ext cx="2148840" cy="457200"/>
          </a:xfrm>
          <a:prstGeom prst="roundRect">
            <a:avLst>
              <a:gd name="adj" fmla="val 12000"/>
            </a:avLst>
          </a:prstGeom>
          <a:solidFill>
            <a:srgbClr val="1C7293"/>
          </a:solidFill>
          <a:ln/>
        </p:spPr>
        <p:txBody>
          <a:bodyPr/>
          <a:lstStyle/>
          <a:p>
            <a:endParaRPr lang="en-IN"/>
          </a:p>
        </p:txBody>
      </p:sp>
      <p:sp>
        <p:nvSpPr>
          <p:cNvPr id="21" name="Text 19"/>
          <p:cNvSpPr txBox="1"/>
          <p:nvPr/>
        </p:nvSpPr>
        <p:spPr>
          <a:xfrm>
            <a:off x="6035040" y="3931920"/>
            <a:ext cx="21488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Payments</a:t>
            </a:r>
            <a:endParaRPr lang="en-US" sz="1300" dirty="0"/>
          </a:p>
        </p:txBody>
      </p:sp>
      <p:sp>
        <p:nvSpPr>
          <p:cNvPr id="22" name="Shape 20"/>
          <p:cNvSpPr/>
          <p:nvPr/>
        </p:nvSpPr>
        <p:spPr>
          <a:xfrm>
            <a:off x="6035040" y="4389120"/>
            <a:ext cx="2148840" cy="905256"/>
          </a:xfrm>
          <a:prstGeom prst="roundRect">
            <a:avLst>
              <a:gd name="adj" fmla="val 6061"/>
            </a:avLst>
          </a:prstGeom>
          <a:solidFill>
            <a:srgbClr val="F5F9FC"/>
          </a:solidFill>
          <a:ln w="9525">
            <a:solidFill>
              <a:srgbClr val="D8E2E8"/>
            </a:solidFill>
            <a:prstDash val="solid"/>
          </a:ln>
        </p:spPr>
        <p:txBody>
          <a:bodyPr/>
          <a:lstStyle/>
          <a:p>
            <a:endParaRPr lang="en-IN"/>
          </a:p>
        </p:txBody>
      </p:sp>
      <p:sp>
        <p:nvSpPr>
          <p:cNvPr id="23" name="Text 21"/>
          <p:cNvSpPr txBox="1"/>
          <p:nvPr/>
        </p:nvSpPr>
        <p:spPr>
          <a:xfrm>
            <a:off x="6144768" y="4462272"/>
            <a:ext cx="1929384" cy="768096"/>
          </a:xfrm>
          <a:prstGeom prst="rect">
            <a:avLst/>
          </a:prstGeom>
          <a:noFill/>
          <a:ln/>
        </p:spPr>
        <p:txBody>
          <a:bodyPr wrap="square" lIns="0" tIns="0" rIns="0" bIns="0" rtlCol="0" anchor="ctr"/>
          <a:lstStyle/>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Payment_ID (PK)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Booking_ID (FK)</a:t>
            </a:r>
            <a:endParaRPr lang="en-US" sz="1050" dirty="0"/>
          </a:p>
          <a:p>
            <a:pPr marL="0" indent="0">
              <a:lnSpc>
                <a:spcPct val="110000"/>
              </a:lnSpc>
              <a:buNone/>
            </a:pPr>
            <a:r>
              <a:rPr lang="en-US" sz="1050" dirty="0">
                <a:solidFill>
                  <a:srgbClr val="1A2733"/>
                </a:solidFill>
                <a:latin typeface="Calibri" pitchFamily="34" charset="0"/>
                <a:ea typeface="Calibri" pitchFamily="34" charset="-122"/>
                <a:cs typeface="Calibri" pitchFamily="34" charset="-120"/>
              </a:rPr>
              <a:t>Amount, Method, Status</a:t>
            </a:r>
            <a:endParaRPr lang="en-US" sz="1050" dirty="0"/>
          </a:p>
        </p:txBody>
      </p:sp>
      <p:sp>
        <p:nvSpPr>
          <p:cNvPr id="24" name="Shape 22"/>
          <p:cNvSpPr/>
          <p:nvPr/>
        </p:nvSpPr>
        <p:spPr>
          <a:xfrm>
            <a:off x="2606040" y="1737360"/>
            <a:ext cx="411480" cy="320040"/>
          </a:xfrm>
          <a:prstGeom prst="line">
            <a:avLst/>
          </a:prstGeom>
          <a:noFill/>
          <a:ln w="19050">
            <a:solidFill>
              <a:srgbClr val="9FB8C8"/>
            </a:solidFill>
            <a:prstDash val="solid"/>
          </a:ln>
        </p:spPr>
        <p:txBody>
          <a:bodyPr/>
          <a:lstStyle/>
          <a:p>
            <a:endParaRPr lang="en-IN"/>
          </a:p>
        </p:txBody>
      </p:sp>
      <p:sp>
        <p:nvSpPr>
          <p:cNvPr id="25" name="Shape 23"/>
          <p:cNvSpPr/>
          <p:nvPr/>
        </p:nvSpPr>
        <p:spPr>
          <a:xfrm>
            <a:off x="2606040" y="2377440"/>
            <a:ext cx="411480" cy="274320"/>
          </a:xfrm>
          <a:prstGeom prst="line">
            <a:avLst/>
          </a:prstGeom>
          <a:noFill/>
          <a:ln w="19050">
            <a:solidFill>
              <a:srgbClr val="9FB8C8"/>
            </a:solidFill>
            <a:prstDash val="solid"/>
          </a:ln>
        </p:spPr>
        <p:txBody>
          <a:bodyPr/>
          <a:lstStyle/>
          <a:p>
            <a:endParaRPr lang="en-IN"/>
          </a:p>
        </p:txBody>
      </p:sp>
      <p:sp>
        <p:nvSpPr>
          <p:cNvPr id="26" name="Shape 24"/>
          <p:cNvSpPr/>
          <p:nvPr/>
        </p:nvSpPr>
        <p:spPr>
          <a:xfrm>
            <a:off x="5349240" y="1737360"/>
            <a:ext cx="457200" cy="320040"/>
          </a:xfrm>
          <a:prstGeom prst="line">
            <a:avLst/>
          </a:prstGeom>
          <a:noFill/>
          <a:ln w="19050">
            <a:solidFill>
              <a:srgbClr val="9FB8C8"/>
            </a:solidFill>
            <a:prstDash val="solid"/>
          </a:ln>
        </p:spPr>
        <p:txBody>
          <a:bodyPr/>
          <a:lstStyle/>
          <a:p>
            <a:endParaRPr lang="en-IN"/>
          </a:p>
        </p:txBody>
      </p:sp>
      <p:sp>
        <p:nvSpPr>
          <p:cNvPr id="27" name="Shape 25"/>
          <p:cNvSpPr/>
          <p:nvPr/>
        </p:nvSpPr>
        <p:spPr>
          <a:xfrm>
            <a:off x="4114800" y="2651760"/>
            <a:ext cx="0" cy="1280160"/>
          </a:xfrm>
          <a:prstGeom prst="line">
            <a:avLst/>
          </a:prstGeom>
          <a:noFill/>
          <a:ln w="19050">
            <a:solidFill>
              <a:srgbClr val="9FB8C8"/>
            </a:solidFill>
            <a:prstDash val="solid"/>
          </a:ln>
        </p:spPr>
        <p:txBody>
          <a:bodyPr/>
          <a:lstStyle/>
          <a:p>
            <a:endParaRPr lang="en-IN"/>
          </a:p>
        </p:txBody>
      </p:sp>
      <p:sp>
        <p:nvSpPr>
          <p:cNvPr id="28" name="Shape 26"/>
          <p:cNvSpPr/>
          <p:nvPr/>
        </p:nvSpPr>
        <p:spPr>
          <a:xfrm>
            <a:off x="5349240" y="2377440"/>
            <a:ext cx="960120" cy="1737360"/>
          </a:xfrm>
          <a:prstGeom prst="line">
            <a:avLst/>
          </a:prstGeom>
          <a:noFill/>
          <a:ln w="19050">
            <a:solidFill>
              <a:srgbClr val="9FB8C8"/>
            </a:solidFill>
            <a:prstDash val="solid"/>
          </a:ln>
        </p:spPr>
        <p:txBody>
          <a:bodyPr/>
          <a:lstStyle/>
          <a:p>
            <a:endParaRPr lang="en-IN"/>
          </a:p>
        </p:txBody>
      </p:sp>
      <p:sp>
        <p:nvSpPr>
          <p:cNvPr id="29" name="Shape 27"/>
          <p:cNvSpPr/>
          <p:nvPr/>
        </p:nvSpPr>
        <p:spPr>
          <a:xfrm>
            <a:off x="5349240" y="4297680"/>
            <a:ext cx="685800" cy="182880"/>
          </a:xfrm>
          <a:prstGeom prst="line">
            <a:avLst/>
          </a:prstGeom>
          <a:noFill/>
          <a:ln w="19050">
            <a:solidFill>
              <a:srgbClr val="9FB8C8"/>
            </a:solidFill>
            <a:prstDash val="solid"/>
          </a:ln>
        </p:spPr>
        <p:txBody>
          <a:bodyPr/>
          <a:lstStyle/>
          <a:p>
            <a:endParaRPr lang="en-IN"/>
          </a:p>
        </p:txBody>
      </p:sp>
      <p:sp>
        <p:nvSpPr>
          <p:cNvPr id="30" name="Text 28"/>
          <p:cNvSpPr txBox="1"/>
          <p:nvPr/>
        </p:nvSpPr>
        <p:spPr>
          <a:xfrm>
            <a:off x="457200" y="6263640"/>
            <a:ext cx="11247120" cy="320040"/>
          </a:xfrm>
          <a:prstGeom prst="rect">
            <a:avLst/>
          </a:prstGeom>
          <a:noFill/>
          <a:ln/>
        </p:spPr>
        <p:txBody>
          <a:bodyPr wrap="square" lIns="0" tIns="0" rIns="0" bIns="0" rtlCol="0" anchor="ctr"/>
          <a:lstStyle/>
          <a:p>
            <a:pPr marL="0" indent="0">
              <a:buNone/>
            </a:pPr>
            <a:r>
              <a:rPr lang="en-US" sz="1150" b="1" dirty="0">
                <a:solidFill>
                  <a:srgbClr val="F4A300"/>
                </a:solidFill>
                <a:latin typeface="Calibri" pitchFamily="34" charset="0"/>
                <a:ea typeface="Calibri" pitchFamily="34" charset="-122"/>
                <a:cs typeface="Calibri" pitchFamily="34" charset="-120"/>
              </a:rPr>
              <a:t>1:M  </a:t>
            </a:r>
            <a:r>
              <a:rPr lang="en-US" sz="1150" dirty="0">
                <a:solidFill>
                  <a:srgbClr val="5C7080"/>
                </a:solidFill>
                <a:latin typeface="Calibri" pitchFamily="34" charset="0"/>
                <a:ea typeface="Calibri" pitchFamily="34" charset="-122"/>
                <a:cs typeface="Calibri" pitchFamily="34" charset="-120"/>
              </a:rPr>
              <a:t>Airport → Flights (origin &amp; destination)   </a:t>
            </a:r>
            <a:r>
              <a:rPr lang="en-US" sz="1150" b="1" dirty="0">
                <a:solidFill>
                  <a:srgbClr val="F4A300"/>
                </a:solidFill>
                <a:latin typeface="Calibri" pitchFamily="34" charset="0"/>
                <a:ea typeface="Calibri" pitchFamily="34" charset="-122"/>
                <a:cs typeface="Calibri" pitchFamily="34" charset="-120"/>
              </a:rPr>
              <a:t>1:M  </a:t>
            </a:r>
            <a:r>
              <a:rPr lang="en-US" sz="1150" dirty="0">
                <a:solidFill>
                  <a:srgbClr val="5C7080"/>
                </a:solidFill>
                <a:latin typeface="Calibri" pitchFamily="34" charset="0"/>
                <a:ea typeface="Calibri" pitchFamily="34" charset="-122"/>
                <a:cs typeface="Calibri" pitchFamily="34" charset="-120"/>
              </a:rPr>
              <a:t>Passenger → Bookings   </a:t>
            </a:r>
            <a:r>
              <a:rPr lang="en-US" sz="1150" b="1" dirty="0">
                <a:solidFill>
                  <a:srgbClr val="F4A300"/>
                </a:solidFill>
                <a:latin typeface="Calibri" pitchFamily="34" charset="0"/>
                <a:ea typeface="Calibri" pitchFamily="34" charset="-122"/>
                <a:cs typeface="Calibri" pitchFamily="34" charset="-120"/>
              </a:rPr>
              <a:t>1:1  </a:t>
            </a:r>
            <a:r>
              <a:rPr lang="en-US" sz="1150" dirty="0">
                <a:solidFill>
                  <a:srgbClr val="5C7080"/>
                </a:solidFill>
                <a:latin typeface="Calibri" pitchFamily="34" charset="0"/>
                <a:ea typeface="Calibri" pitchFamily="34" charset="-122"/>
                <a:cs typeface="Calibri" pitchFamily="34" charset="-120"/>
              </a:rPr>
              <a:t>Booking → Payment</a:t>
            </a:r>
            <a:endParaRPr lang="en-US" sz="1150" dirty="0"/>
          </a:p>
        </p:txBody>
      </p:sp>
      <p:sp>
        <p:nvSpPr>
          <p:cNvPr id="31" name="Text 29"/>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5C7080"/>
                </a:solidFill>
                <a:latin typeface="Calibri" pitchFamily="34" charset="0"/>
                <a:ea typeface="Calibri" pitchFamily="34" charset="-122"/>
                <a:cs typeface="Calibri"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3D5C"/>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STAGE 03 · ANALYTICS &amp; INSIGHTS</a:t>
            </a:r>
            <a:endParaRPr lang="en-US" sz="1300" dirty="0"/>
          </a:p>
        </p:txBody>
      </p:sp>
      <p:sp>
        <p:nvSpPr>
          <p:cNvPr id="3" name="Text 1"/>
          <p:cNvSpPr txBox="1"/>
          <p:nvPr/>
        </p:nvSpPr>
        <p:spPr>
          <a:xfrm>
            <a:off x="548640" y="822960"/>
            <a:ext cx="10058400" cy="54864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Every core SQL technique, put to work</a:t>
            </a:r>
            <a:endParaRPr lang="en-US" sz="2700" dirty="0"/>
          </a:p>
        </p:txBody>
      </p:sp>
      <p:sp>
        <p:nvSpPr>
          <p:cNvPr id="4" name="Shape 2"/>
          <p:cNvSpPr/>
          <p:nvPr/>
        </p:nvSpPr>
        <p:spPr>
          <a:xfrm>
            <a:off x="548640" y="1920240"/>
            <a:ext cx="2697480" cy="1965960"/>
          </a:xfrm>
          <a:prstGeom prst="roundRect">
            <a:avLst>
              <a:gd name="adj" fmla="val 3721"/>
            </a:avLst>
          </a:prstGeom>
          <a:solidFill>
            <a:srgbClr val="0F4C6B"/>
          </a:solidFill>
          <a:ln/>
        </p:spPr>
        <p:txBody>
          <a:bodyPr/>
          <a:lstStyle/>
          <a:p>
            <a:endParaRPr lang="en-IN"/>
          </a:p>
        </p:txBody>
      </p:sp>
      <p:sp>
        <p:nvSpPr>
          <p:cNvPr id="5" name="Shape 3"/>
          <p:cNvSpPr/>
          <p:nvPr/>
        </p:nvSpPr>
        <p:spPr>
          <a:xfrm>
            <a:off x="731520" y="2103120"/>
            <a:ext cx="411480" cy="411480"/>
          </a:xfrm>
          <a:prstGeom prst="ellipse">
            <a:avLst/>
          </a:prstGeom>
          <a:solidFill>
            <a:srgbClr val="F4A300"/>
          </a:solidFill>
          <a:ln/>
        </p:spPr>
        <p:txBody>
          <a:bodyPr/>
          <a:lstStyle/>
          <a:p>
            <a:endParaRPr lang="en-IN"/>
          </a:p>
        </p:txBody>
      </p:sp>
      <p:sp>
        <p:nvSpPr>
          <p:cNvPr id="6" name="Text 4"/>
          <p:cNvSpPr txBox="1"/>
          <p:nvPr/>
        </p:nvSpPr>
        <p:spPr>
          <a:xfrm>
            <a:off x="731520" y="2651760"/>
            <a:ext cx="23317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Filtering &amp; Sorting</a:t>
            </a:r>
            <a:endParaRPr lang="en-US" sz="1350" dirty="0"/>
          </a:p>
        </p:txBody>
      </p:sp>
      <p:sp>
        <p:nvSpPr>
          <p:cNvPr id="7" name="Text 5"/>
          <p:cNvSpPr txBox="1"/>
          <p:nvPr/>
        </p:nvSpPr>
        <p:spPr>
          <a:xfrm>
            <a:off x="731520" y="3154680"/>
            <a:ext cx="2331720" cy="64008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WHERE, ORDER BY, LIMIT — top fares, recent bookings</a:t>
            </a:r>
            <a:endParaRPr lang="en-US" sz="1050" dirty="0"/>
          </a:p>
        </p:txBody>
      </p:sp>
      <p:sp>
        <p:nvSpPr>
          <p:cNvPr id="8" name="Shape 6"/>
          <p:cNvSpPr/>
          <p:nvPr/>
        </p:nvSpPr>
        <p:spPr>
          <a:xfrm>
            <a:off x="3383280" y="1920240"/>
            <a:ext cx="2697480" cy="1965960"/>
          </a:xfrm>
          <a:prstGeom prst="roundRect">
            <a:avLst>
              <a:gd name="adj" fmla="val 3721"/>
            </a:avLst>
          </a:prstGeom>
          <a:solidFill>
            <a:srgbClr val="0F4C6B"/>
          </a:solidFill>
          <a:ln/>
        </p:spPr>
        <p:txBody>
          <a:bodyPr/>
          <a:lstStyle/>
          <a:p>
            <a:endParaRPr lang="en-IN"/>
          </a:p>
        </p:txBody>
      </p:sp>
      <p:sp>
        <p:nvSpPr>
          <p:cNvPr id="9" name="Shape 7"/>
          <p:cNvSpPr/>
          <p:nvPr/>
        </p:nvSpPr>
        <p:spPr>
          <a:xfrm>
            <a:off x="3566160" y="2103120"/>
            <a:ext cx="411480" cy="411480"/>
          </a:xfrm>
          <a:prstGeom prst="ellipse">
            <a:avLst/>
          </a:prstGeom>
          <a:solidFill>
            <a:srgbClr val="F4A300"/>
          </a:solidFill>
          <a:ln/>
        </p:spPr>
        <p:txBody>
          <a:bodyPr/>
          <a:lstStyle/>
          <a:p>
            <a:endParaRPr lang="en-IN"/>
          </a:p>
        </p:txBody>
      </p:sp>
      <p:sp>
        <p:nvSpPr>
          <p:cNvPr id="10" name="Text 8"/>
          <p:cNvSpPr txBox="1"/>
          <p:nvPr/>
        </p:nvSpPr>
        <p:spPr>
          <a:xfrm>
            <a:off x="3566160" y="2651760"/>
            <a:ext cx="23317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Multi-table Joins</a:t>
            </a:r>
            <a:endParaRPr lang="en-US" sz="1350" dirty="0"/>
          </a:p>
        </p:txBody>
      </p:sp>
      <p:sp>
        <p:nvSpPr>
          <p:cNvPr id="11" name="Text 9"/>
          <p:cNvSpPr txBox="1"/>
          <p:nvPr/>
        </p:nvSpPr>
        <p:spPr>
          <a:xfrm>
            <a:off x="3566160" y="3154680"/>
            <a:ext cx="2331720" cy="64008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3-table joins linking passengers, flights, and payments</a:t>
            </a:r>
            <a:endParaRPr lang="en-US" sz="1050" dirty="0"/>
          </a:p>
        </p:txBody>
      </p:sp>
      <p:sp>
        <p:nvSpPr>
          <p:cNvPr id="12" name="Shape 10"/>
          <p:cNvSpPr/>
          <p:nvPr/>
        </p:nvSpPr>
        <p:spPr>
          <a:xfrm>
            <a:off x="6217920" y="1920240"/>
            <a:ext cx="2697480" cy="1965960"/>
          </a:xfrm>
          <a:prstGeom prst="roundRect">
            <a:avLst>
              <a:gd name="adj" fmla="val 3721"/>
            </a:avLst>
          </a:prstGeom>
          <a:solidFill>
            <a:srgbClr val="0F4C6B"/>
          </a:solidFill>
          <a:ln/>
        </p:spPr>
        <p:txBody>
          <a:bodyPr/>
          <a:lstStyle/>
          <a:p>
            <a:endParaRPr lang="en-IN"/>
          </a:p>
        </p:txBody>
      </p:sp>
      <p:sp>
        <p:nvSpPr>
          <p:cNvPr id="13" name="Shape 11"/>
          <p:cNvSpPr/>
          <p:nvPr/>
        </p:nvSpPr>
        <p:spPr>
          <a:xfrm>
            <a:off x="6400800" y="2103120"/>
            <a:ext cx="411480" cy="411480"/>
          </a:xfrm>
          <a:prstGeom prst="ellipse">
            <a:avLst/>
          </a:prstGeom>
          <a:solidFill>
            <a:srgbClr val="F4A300"/>
          </a:solidFill>
          <a:ln/>
        </p:spPr>
        <p:txBody>
          <a:bodyPr/>
          <a:lstStyle/>
          <a:p>
            <a:endParaRPr lang="en-IN"/>
          </a:p>
        </p:txBody>
      </p:sp>
      <p:sp>
        <p:nvSpPr>
          <p:cNvPr id="14" name="Text 12"/>
          <p:cNvSpPr txBox="1"/>
          <p:nvPr/>
        </p:nvSpPr>
        <p:spPr>
          <a:xfrm>
            <a:off x="6400800" y="2651760"/>
            <a:ext cx="23317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Subqueries</a:t>
            </a:r>
            <a:endParaRPr lang="en-US" sz="1350" dirty="0"/>
          </a:p>
        </p:txBody>
      </p:sp>
      <p:sp>
        <p:nvSpPr>
          <p:cNvPr id="15" name="Text 13"/>
          <p:cNvSpPr txBox="1"/>
          <p:nvPr/>
        </p:nvSpPr>
        <p:spPr>
          <a:xfrm>
            <a:off x="6400800" y="3154680"/>
            <a:ext cx="2331720" cy="64008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Payments above the average; flights with zero bookings</a:t>
            </a:r>
            <a:endParaRPr lang="en-US" sz="1050" dirty="0"/>
          </a:p>
        </p:txBody>
      </p:sp>
      <p:sp>
        <p:nvSpPr>
          <p:cNvPr id="16" name="Shape 14"/>
          <p:cNvSpPr/>
          <p:nvPr/>
        </p:nvSpPr>
        <p:spPr>
          <a:xfrm>
            <a:off x="9052560" y="1920240"/>
            <a:ext cx="2697480" cy="1965960"/>
          </a:xfrm>
          <a:prstGeom prst="roundRect">
            <a:avLst>
              <a:gd name="adj" fmla="val 3721"/>
            </a:avLst>
          </a:prstGeom>
          <a:solidFill>
            <a:srgbClr val="0F4C6B"/>
          </a:solidFill>
          <a:ln/>
        </p:spPr>
        <p:txBody>
          <a:bodyPr/>
          <a:lstStyle/>
          <a:p>
            <a:endParaRPr lang="en-IN"/>
          </a:p>
        </p:txBody>
      </p:sp>
      <p:sp>
        <p:nvSpPr>
          <p:cNvPr id="17" name="Shape 15"/>
          <p:cNvSpPr/>
          <p:nvPr/>
        </p:nvSpPr>
        <p:spPr>
          <a:xfrm>
            <a:off x="9235440" y="2103120"/>
            <a:ext cx="411480" cy="411480"/>
          </a:xfrm>
          <a:prstGeom prst="ellipse">
            <a:avLst/>
          </a:prstGeom>
          <a:solidFill>
            <a:srgbClr val="F4A300"/>
          </a:solidFill>
          <a:ln/>
        </p:spPr>
        <p:txBody>
          <a:bodyPr/>
          <a:lstStyle/>
          <a:p>
            <a:endParaRPr lang="en-IN"/>
          </a:p>
        </p:txBody>
      </p:sp>
      <p:sp>
        <p:nvSpPr>
          <p:cNvPr id="18" name="Text 16"/>
          <p:cNvSpPr txBox="1"/>
          <p:nvPr/>
        </p:nvSpPr>
        <p:spPr>
          <a:xfrm>
            <a:off x="9235440" y="2651760"/>
            <a:ext cx="23317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Aggregation</a:t>
            </a:r>
            <a:endParaRPr lang="en-US" sz="1350" dirty="0"/>
          </a:p>
        </p:txBody>
      </p:sp>
      <p:sp>
        <p:nvSpPr>
          <p:cNvPr id="19" name="Text 17"/>
          <p:cNvSpPr txBox="1"/>
          <p:nvPr/>
        </p:nvSpPr>
        <p:spPr>
          <a:xfrm>
            <a:off x="9235440" y="3154680"/>
            <a:ext cx="2331720" cy="64008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GROUP BY, HAVING — revenue and booking counts per group</a:t>
            </a:r>
            <a:endParaRPr lang="en-US" sz="1050" dirty="0"/>
          </a:p>
        </p:txBody>
      </p:sp>
      <p:sp>
        <p:nvSpPr>
          <p:cNvPr id="20" name="Shape 18"/>
          <p:cNvSpPr/>
          <p:nvPr/>
        </p:nvSpPr>
        <p:spPr>
          <a:xfrm>
            <a:off x="548640" y="4069080"/>
            <a:ext cx="2697480" cy="1965960"/>
          </a:xfrm>
          <a:prstGeom prst="roundRect">
            <a:avLst>
              <a:gd name="adj" fmla="val 3721"/>
            </a:avLst>
          </a:prstGeom>
          <a:solidFill>
            <a:srgbClr val="0F4C6B"/>
          </a:solidFill>
          <a:ln/>
        </p:spPr>
        <p:txBody>
          <a:bodyPr/>
          <a:lstStyle/>
          <a:p>
            <a:endParaRPr lang="en-IN"/>
          </a:p>
        </p:txBody>
      </p:sp>
      <p:sp>
        <p:nvSpPr>
          <p:cNvPr id="21" name="Shape 19"/>
          <p:cNvSpPr/>
          <p:nvPr/>
        </p:nvSpPr>
        <p:spPr>
          <a:xfrm>
            <a:off x="731520" y="4251960"/>
            <a:ext cx="411480" cy="411480"/>
          </a:xfrm>
          <a:prstGeom prst="ellipse">
            <a:avLst/>
          </a:prstGeom>
          <a:solidFill>
            <a:srgbClr val="F4A300"/>
          </a:solidFill>
          <a:ln/>
        </p:spPr>
        <p:txBody>
          <a:bodyPr/>
          <a:lstStyle/>
          <a:p>
            <a:endParaRPr lang="en-IN"/>
          </a:p>
        </p:txBody>
      </p:sp>
      <p:sp>
        <p:nvSpPr>
          <p:cNvPr id="22" name="Text 20"/>
          <p:cNvSpPr txBox="1"/>
          <p:nvPr/>
        </p:nvSpPr>
        <p:spPr>
          <a:xfrm>
            <a:off x="731520" y="4800600"/>
            <a:ext cx="23317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Window Functions</a:t>
            </a:r>
            <a:endParaRPr lang="en-US" sz="1350" dirty="0"/>
          </a:p>
        </p:txBody>
      </p:sp>
      <p:sp>
        <p:nvSpPr>
          <p:cNvPr id="23" name="Text 21"/>
          <p:cNvSpPr txBox="1"/>
          <p:nvPr/>
        </p:nvSpPr>
        <p:spPr>
          <a:xfrm>
            <a:off x="731520" y="5303520"/>
            <a:ext cx="2331720" cy="64008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RANK, ROW_NUMBER, LAG, NTILE, running &amp; moving totals</a:t>
            </a:r>
            <a:endParaRPr lang="en-US" sz="1050" dirty="0"/>
          </a:p>
        </p:txBody>
      </p:sp>
      <p:sp>
        <p:nvSpPr>
          <p:cNvPr id="24" name="Shape 22"/>
          <p:cNvSpPr/>
          <p:nvPr/>
        </p:nvSpPr>
        <p:spPr>
          <a:xfrm>
            <a:off x="3383280" y="4069080"/>
            <a:ext cx="2697480" cy="1965960"/>
          </a:xfrm>
          <a:prstGeom prst="roundRect">
            <a:avLst>
              <a:gd name="adj" fmla="val 3721"/>
            </a:avLst>
          </a:prstGeom>
          <a:solidFill>
            <a:srgbClr val="0F4C6B"/>
          </a:solidFill>
          <a:ln/>
        </p:spPr>
        <p:txBody>
          <a:bodyPr/>
          <a:lstStyle/>
          <a:p>
            <a:endParaRPr lang="en-IN"/>
          </a:p>
        </p:txBody>
      </p:sp>
      <p:sp>
        <p:nvSpPr>
          <p:cNvPr id="25" name="Shape 23"/>
          <p:cNvSpPr/>
          <p:nvPr/>
        </p:nvSpPr>
        <p:spPr>
          <a:xfrm>
            <a:off x="3566160" y="4251960"/>
            <a:ext cx="411480" cy="411480"/>
          </a:xfrm>
          <a:prstGeom prst="ellipse">
            <a:avLst/>
          </a:prstGeom>
          <a:solidFill>
            <a:srgbClr val="F4A300"/>
          </a:solidFill>
          <a:ln/>
        </p:spPr>
        <p:txBody>
          <a:bodyPr/>
          <a:lstStyle/>
          <a:p>
            <a:endParaRPr lang="en-IN"/>
          </a:p>
        </p:txBody>
      </p:sp>
      <p:sp>
        <p:nvSpPr>
          <p:cNvPr id="26" name="Text 24"/>
          <p:cNvSpPr txBox="1"/>
          <p:nvPr/>
        </p:nvSpPr>
        <p:spPr>
          <a:xfrm>
            <a:off x="3566160" y="4800600"/>
            <a:ext cx="23317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CTEs</a:t>
            </a:r>
            <a:endParaRPr lang="en-US" sz="1350" dirty="0"/>
          </a:p>
        </p:txBody>
      </p:sp>
      <p:sp>
        <p:nvSpPr>
          <p:cNvPr id="27" name="Text 25"/>
          <p:cNvSpPr txBox="1"/>
          <p:nvPr/>
        </p:nvSpPr>
        <p:spPr>
          <a:xfrm>
            <a:off x="3566160" y="5303520"/>
            <a:ext cx="2331720" cy="64008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WITH clauses for readable multi-step spend analysis</a:t>
            </a:r>
            <a:endParaRPr lang="en-US" sz="1050" dirty="0"/>
          </a:p>
        </p:txBody>
      </p:sp>
      <p:sp>
        <p:nvSpPr>
          <p:cNvPr id="28" name="Shape 26"/>
          <p:cNvSpPr/>
          <p:nvPr/>
        </p:nvSpPr>
        <p:spPr>
          <a:xfrm>
            <a:off x="6217920" y="4069080"/>
            <a:ext cx="2697480" cy="1965960"/>
          </a:xfrm>
          <a:prstGeom prst="roundRect">
            <a:avLst>
              <a:gd name="adj" fmla="val 3721"/>
            </a:avLst>
          </a:prstGeom>
          <a:solidFill>
            <a:srgbClr val="0F4C6B"/>
          </a:solidFill>
          <a:ln/>
        </p:spPr>
        <p:txBody>
          <a:bodyPr/>
          <a:lstStyle/>
          <a:p>
            <a:endParaRPr lang="en-IN"/>
          </a:p>
        </p:txBody>
      </p:sp>
      <p:sp>
        <p:nvSpPr>
          <p:cNvPr id="29" name="Shape 27"/>
          <p:cNvSpPr/>
          <p:nvPr/>
        </p:nvSpPr>
        <p:spPr>
          <a:xfrm>
            <a:off x="6400800" y="4251960"/>
            <a:ext cx="411480" cy="411480"/>
          </a:xfrm>
          <a:prstGeom prst="ellipse">
            <a:avLst/>
          </a:prstGeom>
          <a:solidFill>
            <a:srgbClr val="F4A300"/>
          </a:solidFill>
          <a:ln/>
        </p:spPr>
        <p:txBody>
          <a:bodyPr/>
          <a:lstStyle/>
          <a:p>
            <a:endParaRPr lang="en-IN"/>
          </a:p>
        </p:txBody>
      </p:sp>
      <p:sp>
        <p:nvSpPr>
          <p:cNvPr id="30" name="Text 28"/>
          <p:cNvSpPr txBox="1"/>
          <p:nvPr/>
        </p:nvSpPr>
        <p:spPr>
          <a:xfrm>
            <a:off x="6400800" y="4800600"/>
            <a:ext cx="23317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Indexes</a:t>
            </a:r>
            <a:endParaRPr lang="en-US" sz="1350" dirty="0"/>
          </a:p>
        </p:txBody>
      </p:sp>
      <p:sp>
        <p:nvSpPr>
          <p:cNvPr id="31" name="Text 29"/>
          <p:cNvSpPr txBox="1"/>
          <p:nvPr/>
        </p:nvSpPr>
        <p:spPr>
          <a:xfrm>
            <a:off x="6400800" y="5303520"/>
            <a:ext cx="2331720" cy="64008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Single-column and unique indexes for faster lookups</a:t>
            </a:r>
            <a:endParaRPr lang="en-US" sz="1050" dirty="0"/>
          </a:p>
        </p:txBody>
      </p:sp>
      <p:sp>
        <p:nvSpPr>
          <p:cNvPr id="32" name="Shape 30"/>
          <p:cNvSpPr/>
          <p:nvPr/>
        </p:nvSpPr>
        <p:spPr>
          <a:xfrm>
            <a:off x="9052560" y="4069080"/>
            <a:ext cx="2697480" cy="1965960"/>
          </a:xfrm>
          <a:prstGeom prst="roundRect">
            <a:avLst>
              <a:gd name="adj" fmla="val 3721"/>
            </a:avLst>
          </a:prstGeom>
          <a:solidFill>
            <a:srgbClr val="0F4C6B"/>
          </a:solidFill>
          <a:ln/>
        </p:spPr>
        <p:txBody>
          <a:bodyPr/>
          <a:lstStyle/>
          <a:p>
            <a:endParaRPr lang="en-IN"/>
          </a:p>
        </p:txBody>
      </p:sp>
      <p:sp>
        <p:nvSpPr>
          <p:cNvPr id="33" name="Shape 31"/>
          <p:cNvSpPr/>
          <p:nvPr/>
        </p:nvSpPr>
        <p:spPr>
          <a:xfrm>
            <a:off x="9235440" y="4251960"/>
            <a:ext cx="411480" cy="411480"/>
          </a:xfrm>
          <a:prstGeom prst="ellipse">
            <a:avLst/>
          </a:prstGeom>
          <a:solidFill>
            <a:srgbClr val="F4A300"/>
          </a:solidFill>
          <a:ln/>
        </p:spPr>
        <p:txBody>
          <a:bodyPr/>
          <a:lstStyle/>
          <a:p>
            <a:endParaRPr lang="en-IN"/>
          </a:p>
        </p:txBody>
      </p:sp>
      <p:sp>
        <p:nvSpPr>
          <p:cNvPr id="34" name="Text 32"/>
          <p:cNvSpPr txBox="1"/>
          <p:nvPr/>
        </p:nvSpPr>
        <p:spPr>
          <a:xfrm>
            <a:off x="9235440" y="4800600"/>
            <a:ext cx="23317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Views</a:t>
            </a:r>
            <a:endParaRPr lang="en-US" sz="1350" dirty="0"/>
          </a:p>
        </p:txBody>
      </p:sp>
      <p:sp>
        <p:nvSpPr>
          <p:cNvPr id="35" name="Text 33"/>
          <p:cNvSpPr txBox="1"/>
          <p:nvPr/>
        </p:nvSpPr>
        <p:spPr>
          <a:xfrm>
            <a:off x="9235440" y="5303520"/>
            <a:ext cx="2331720" cy="640080"/>
          </a:xfrm>
          <a:prstGeom prst="rect">
            <a:avLst/>
          </a:prstGeom>
          <a:noFill/>
          <a:ln/>
        </p:spPr>
        <p:txBody>
          <a:bodyPr wrap="square" lIns="0" tIns="0" rIns="0" bIns="0" rtlCol="0" anchor="ctr"/>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Reusable virtual tables for high-value payments &amp; revenue</a:t>
            </a:r>
            <a:endParaRPr lang="en-US" sz="1050" dirty="0"/>
          </a:p>
        </p:txBody>
      </p:sp>
      <p:sp>
        <p:nvSpPr>
          <p:cNvPr id="36" name="Text 34"/>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9FB8C8"/>
                </a:solidFill>
                <a:latin typeface="Calibri" pitchFamily="34" charset="0"/>
                <a:ea typeface="Calibri" pitchFamily="34" charset="-122"/>
                <a:cs typeface="Calibri"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SPOTLIGHT</a:t>
            </a:r>
            <a:endParaRPr lang="en-US" sz="1300" dirty="0"/>
          </a:p>
        </p:txBody>
      </p:sp>
      <p:sp>
        <p:nvSpPr>
          <p:cNvPr id="3" name="Text 1"/>
          <p:cNvSpPr txBox="1"/>
          <p:nvPr/>
        </p:nvSpPr>
        <p:spPr>
          <a:xfrm>
            <a:off x="548640" y="822960"/>
            <a:ext cx="10058400" cy="548640"/>
          </a:xfrm>
          <a:prstGeom prst="rect">
            <a:avLst/>
          </a:prstGeom>
          <a:noFill/>
          <a:ln/>
        </p:spPr>
        <p:txBody>
          <a:bodyPr wrap="square" lIns="0" tIns="0" rIns="0" bIns="0" rtlCol="0" anchor="ctr"/>
          <a:lstStyle/>
          <a:p>
            <a:pPr marL="0" indent="0">
              <a:buNone/>
            </a:pPr>
            <a:r>
              <a:rPr lang="en-US" sz="2700" b="1" dirty="0">
                <a:solidFill>
                  <a:srgbClr val="1A2733"/>
                </a:solidFill>
                <a:latin typeface="Cambria" pitchFamily="34" charset="0"/>
                <a:ea typeface="Cambria" pitchFamily="34" charset="-122"/>
                <a:cs typeface="Cambria" pitchFamily="34" charset="-120"/>
              </a:rPr>
              <a:t>Window functions: the differentiator</a:t>
            </a:r>
            <a:endParaRPr lang="en-US" sz="2700" dirty="0"/>
          </a:p>
        </p:txBody>
      </p:sp>
      <p:sp>
        <p:nvSpPr>
          <p:cNvPr id="4" name="Text 2"/>
          <p:cNvSpPr txBox="1"/>
          <p:nvPr/>
        </p:nvSpPr>
        <p:spPr>
          <a:xfrm>
            <a:off x="548640" y="1417320"/>
            <a:ext cx="10515600" cy="457200"/>
          </a:xfrm>
          <a:prstGeom prst="rect">
            <a:avLst/>
          </a:prstGeom>
          <a:noFill/>
          <a:ln/>
        </p:spPr>
        <p:txBody>
          <a:bodyPr wrap="square" lIns="0" tIns="0" rIns="0" bIns="0" rtlCol="0" anchor="ctr"/>
          <a:lstStyle/>
          <a:p>
            <a:pPr marL="0" indent="0">
              <a:buNone/>
            </a:pPr>
            <a:r>
              <a:rPr lang="en-US" sz="1300" dirty="0">
                <a:solidFill>
                  <a:srgbClr val="5C7080"/>
                </a:solidFill>
                <a:latin typeface="Calibri" pitchFamily="34" charset="0"/>
                <a:ea typeface="Calibri" pitchFamily="34" charset="-122"/>
                <a:cs typeface="Calibri" pitchFamily="34" charset="-120"/>
              </a:rPr>
              <a:t>Unlike GROUP BY, a window function keeps every row while still calculating across a related set — perfect for rankings, running totals, and row-to-row comparisons.</a:t>
            </a:r>
            <a:endParaRPr lang="en-US" sz="1300" dirty="0"/>
          </a:p>
        </p:txBody>
      </p:sp>
      <p:sp>
        <p:nvSpPr>
          <p:cNvPr id="5" name="Shape 3"/>
          <p:cNvSpPr/>
          <p:nvPr/>
        </p:nvSpPr>
        <p:spPr>
          <a:xfrm>
            <a:off x="548640" y="2148840"/>
            <a:ext cx="3566160" cy="1417320"/>
          </a:xfrm>
          <a:prstGeom prst="roundRect">
            <a:avLst>
              <a:gd name="adj" fmla="val 5161"/>
            </a:avLst>
          </a:prstGeom>
          <a:solidFill>
            <a:srgbClr val="F5F9FC"/>
          </a:solidFill>
          <a:ln w="9525">
            <a:solidFill>
              <a:srgbClr val="D8E2E8"/>
            </a:solidFill>
            <a:prstDash val="solid"/>
          </a:ln>
        </p:spPr>
        <p:txBody>
          <a:bodyPr/>
          <a:lstStyle/>
          <a:p>
            <a:endParaRPr lang="en-IN"/>
          </a:p>
        </p:txBody>
      </p:sp>
      <p:sp>
        <p:nvSpPr>
          <p:cNvPr id="6" name="Shape 4"/>
          <p:cNvSpPr/>
          <p:nvPr/>
        </p:nvSpPr>
        <p:spPr>
          <a:xfrm>
            <a:off x="548640" y="2148840"/>
            <a:ext cx="64008" cy="1417320"/>
          </a:xfrm>
          <a:prstGeom prst="rect">
            <a:avLst/>
          </a:prstGeom>
          <a:solidFill>
            <a:srgbClr val="1C7293"/>
          </a:solidFill>
          <a:ln/>
        </p:spPr>
        <p:txBody>
          <a:bodyPr/>
          <a:lstStyle/>
          <a:p>
            <a:endParaRPr lang="en-IN"/>
          </a:p>
        </p:txBody>
      </p:sp>
      <p:sp>
        <p:nvSpPr>
          <p:cNvPr id="7" name="Text 5"/>
          <p:cNvSpPr txBox="1"/>
          <p:nvPr/>
        </p:nvSpPr>
        <p:spPr>
          <a:xfrm>
            <a:off x="777240" y="2286000"/>
            <a:ext cx="3154680" cy="548640"/>
          </a:xfrm>
          <a:prstGeom prst="rect">
            <a:avLst/>
          </a:prstGeom>
          <a:noFill/>
          <a:ln/>
        </p:spPr>
        <p:txBody>
          <a:bodyPr wrap="square" lIns="0" tIns="0" rIns="0" bIns="0" rtlCol="0" anchor="ctr"/>
          <a:lstStyle/>
          <a:p>
            <a:pPr marL="0" indent="0">
              <a:buNone/>
            </a:pPr>
            <a:r>
              <a:rPr lang="en-US" sz="1400" b="1" dirty="0">
                <a:solidFill>
                  <a:srgbClr val="0B3D5C"/>
                </a:solidFill>
                <a:latin typeface="Consolas" pitchFamily="34" charset="0"/>
                <a:ea typeface="Consolas" pitchFamily="34" charset="-122"/>
                <a:cs typeface="Consolas" pitchFamily="34" charset="-120"/>
              </a:rPr>
              <a:t>SUM() OVER</a:t>
            </a:r>
            <a:endParaRPr lang="en-US" sz="1400" dirty="0"/>
          </a:p>
        </p:txBody>
      </p:sp>
      <p:sp>
        <p:nvSpPr>
          <p:cNvPr id="8" name="Text 6"/>
          <p:cNvSpPr txBox="1"/>
          <p:nvPr/>
        </p:nvSpPr>
        <p:spPr>
          <a:xfrm>
            <a:off x="777240" y="2862072"/>
            <a:ext cx="3154680" cy="594360"/>
          </a:xfrm>
          <a:prstGeom prst="rect">
            <a:avLst/>
          </a:prstGeom>
          <a:noFill/>
          <a:ln/>
        </p:spPr>
        <p:txBody>
          <a:bodyPr wrap="square" lIns="0" tIns="0" rIns="0" bIns="0" rtlCol="0" anchor="ctr"/>
          <a:lstStyle/>
          <a:p>
            <a:pPr marL="0" indent="0">
              <a:lnSpc>
                <a:spcPct val="115000"/>
              </a:lnSpc>
              <a:buNone/>
            </a:pPr>
            <a:r>
              <a:rPr lang="en-US" sz="1100" dirty="0">
                <a:solidFill>
                  <a:srgbClr val="5C7080"/>
                </a:solidFill>
                <a:latin typeface="Calibri" pitchFamily="34" charset="0"/>
                <a:ea typeface="Calibri" pitchFamily="34" charset="-122"/>
                <a:cs typeface="Calibri" pitchFamily="34" charset="-120"/>
              </a:rPr>
              <a:t>Cumulative revenue, day by day (Q12)</a:t>
            </a:r>
            <a:endParaRPr lang="en-US" sz="1100" dirty="0"/>
          </a:p>
        </p:txBody>
      </p:sp>
      <p:sp>
        <p:nvSpPr>
          <p:cNvPr id="9" name="Shape 7"/>
          <p:cNvSpPr/>
          <p:nvPr/>
        </p:nvSpPr>
        <p:spPr>
          <a:xfrm>
            <a:off x="4297680" y="2148840"/>
            <a:ext cx="3566160" cy="1417320"/>
          </a:xfrm>
          <a:prstGeom prst="roundRect">
            <a:avLst>
              <a:gd name="adj" fmla="val 5161"/>
            </a:avLst>
          </a:prstGeom>
          <a:solidFill>
            <a:srgbClr val="F5F9FC"/>
          </a:solidFill>
          <a:ln w="9525">
            <a:solidFill>
              <a:srgbClr val="D8E2E8"/>
            </a:solidFill>
            <a:prstDash val="solid"/>
          </a:ln>
        </p:spPr>
        <p:txBody>
          <a:bodyPr/>
          <a:lstStyle/>
          <a:p>
            <a:endParaRPr lang="en-IN"/>
          </a:p>
        </p:txBody>
      </p:sp>
      <p:sp>
        <p:nvSpPr>
          <p:cNvPr id="10" name="Shape 8"/>
          <p:cNvSpPr/>
          <p:nvPr/>
        </p:nvSpPr>
        <p:spPr>
          <a:xfrm>
            <a:off x="4297680" y="2148840"/>
            <a:ext cx="64008" cy="1417320"/>
          </a:xfrm>
          <a:prstGeom prst="rect">
            <a:avLst/>
          </a:prstGeom>
          <a:solidFill>
            <a:srgbClr val="1C7293"/>
          </a:solidFill>
          <a:ln/>
        </p:spPr>
        <p:txBody>
          <a:bodyPr/>
          <a:lstStyle/>
          <a:p>
            <a:endParaRPr lang="en-IN"/>
          </a:p>
        </p:txBody>
      </p:sp>
      <p:sp>
        <p:nvSpPr>
          <p:cNvPr id="11" name="Text 9"/>
          <p:cNvSpPr txBox="1"/>
          <p:nvPr/>
        </p:nvSpPr>
        <p:spPr>
          <a:xfrm>
            <a:off x="4526280" y="2286000"/>
            <a:ext cx="3154680" cy="548640"/>
          </a:xfrm>
          <a:prstGeom prst="rect">
            <a:avLst/>
          </a:prstGeom>
          <a:noFill/>
          <a:ln/>
        </p:spPr>
        <p:txBody>
          <a:bodyPr wrap="square" lIns="0" tIns="0" rIns="0" bIns="0" rtlCol="0" anchor="ctr"/>
          <a:lstStyle/>
          <a:p>
            <a:pPr marL="0" indent="0">
              <a:buNone/>
            </a:pPr>
            <a:r>
              <a:rPr lang="en-US" sz="1400" b="1" dirty="0">
                <a:solidFill>
                  <a:srgbClr val="0B3D5C"/>
                </a:solidFill>
                <a:latin typeface="Consolas" pitchFamily="34" charset="0"/>
                <a:ea typeface="Consolas" pitchFamily="34" charset="-122"/>
                <a:cs typeface="Consolas" pitchFamily="34" charset="-120"/>
              </a:rPr>
              <a:t>RANK()</a:t>
            </a:r>
            <a:endParaRPr lang="en-US" sz="1400" dirty="0"/>
          </a:p>
        </p:txBody>
      </p:sp>
      <p:sp>
        <p:nvSpPr>
          <p:cNvPr id="12" name="Text 10"/>
          <p:cNvSpPr txBox="1"/>
          <p:nvPr/>
        </p:nvSpPr>
        <p:spPr>
          <a:xfrm>
            <a:off x="4526280" y="2862072"/>
            <a:ext cx="3154680" cy="594360"/>
          </a:xfrm>
          <a:prstGeom prst="rect">
            <a:avLst/>
          </a:prstGeom>
          <a:noFill/>
          <a:ln/>
        </p:spPr>
        <p:txBody>
          <a:bodyPr wrap="square" lIns="0" tIns="0" rIns="0" bIns="0" rtlCol="0" anchor="ctr"/>
          <a:lstStyle/>
          <a:p>
            <a:pPr marL="0" indent="0">
              <a:lnSpc>
                <a:spcPct val="115000"/>
              </a:lnSpc>
              <a:buNone/>
            </a:pPr>
            <a:r>
              <a:rPr lang="en-US" sz="1100" dirty="0">
                <a:solidFill>
                  <a:srgbClr val="5C7080"/>
                </a:solidFill>
                <a:latin typeface="Calibri" pitchFamily="34" charset="0"/>
                <a:ea typeface="Calibri" pitchFamily="34" charset="-122"/>
                <a:cs typeface="Calibri" pitchFamily="34" charset="-120"/>
              </a:rPr>
              <a:t>Rank passengers by total spend — ties share a rank (Q21)</a:t>
            </a:r>
            <a:endParaRPr lang="en-US" sz="1100" dirty="0"/>
          </a:p>
        </p:txBody>
      </p:sp>
      <p:sp>
        <p:nvSpPr>
          <p:cNvPr id="13" name="Shape 11"/>
          <p:cNvSpPr/>
          <p:nvPr/>
        </p:nvSpPr>
        <p:spPr>
          <a:xfrm>
            <a:off x="8046720" y="2148840"/>
            <a:ext cx="3566160" cy="1417320"/>
          </a:xfrm>
          <a:prstGeom prst="roundRect">
            <a:avLst>
              <a:gd name="adj" fmla="val 5161"/>
            </a:avLst>
          </a:prstGeom>
          <a:solidFill>
            <a:srgbClr val="F5F9FC"/>
          </a:solidFill>
          <a:ln w="9525">
            <a:solidFill>
              <a:srgbClr val="D8E2E8"/>
            </a:solidFill>
            <a:prstDash val="solid"/>
          </a:ln>
        </p:spPr>
        <p:txBody>
          <a:bodyPr/>
          <a:lstStyle/>
          <a:p>
            <a:endParaRPr lang="en-IN"/>
          </a:p>
        </p:txBody>
      </p:sp>
      <p:sp>
        <p:nvSpPr>
          <p:cNvPr id="14" name="Shape 12"/>
          <p:cNvSpPr/>
          <p:nvPr/>
        </p:nvSpPr>
        <p:spPr>
          <a:xfrm>
            <a:off x="8046720" y="2148840"/>
            <a:ext cx="64008" cy="1417320"/>
          </a:xfrm>
          <a:prstGeom prst="rect">
            <a:avLst/>
          </a:prstGeom>
          <a:solidFill>
            <a:srgbClr val="1C7293"/>
          </a:solidFill>
          <a:ln/>
        </p:spPr>
        <p:txBody>
          <a:bodyPr/>
          <a:lstStyle/>
          <a:p>
            <a:endParaRPr lang="en-IN"/>
          </a:p>
        </p:txBody>
      </p:sp>
      <p:sp>
        <p:nvSpPr>
          <p:cNvPr id="15" name="Text 13"/>
          <p:cNvSpPr txBox="1"/>
          <p:nvPr/>
        </p:nvSpPr>
        <p:spPr>
          <a:xfrm>
            <a:off x="8275320" y="2286000"/>
            <a:ext cx="3154680" cy="548640"/>
          </a:xfrm>
          <a:prstGeom prst="rect">
            <a:avLst/>
          </a:prstGeom>
          <a:noFill/>
          <a:ln/>
        </p:spPr>
        <p:txBody>
          <a:bodyPr wrap="square" lIns="0" tIns="0" rIns="0" bIns="0" rtlCol="0" anchor="ctr"/>
          <a:lstStyle/>
          <a:p>
            <a:pPr marL="0" indent="0">
              <a:buNone/>
            </a:pPr>
            <a:r>
              <a:rPr lang="en-US" sz="1400" b="1" dirty="0">
                <a:solidFill>
                  <a:srgbClr val="0B3D5C"/>
                </a:solidFill>
                <a:latin typeface="Consolas" pitchFamily="34" charset="0"/>
                <a:ea typeface="Consolas" pitchFamily="34" charset="-122"/>
                <a:cs typeface="Consolas" pitchFamily="34" charset="-120"/>
              </a:rPr>
              <a:t>ROW_NUMBER()</a:t>
            </a:r>
            <a:endParaRPr lang="en-US" sz="1400" dirty="0"/>
          </a:p>
          <a:p>
            <a:pPr marL="0" indent="0">
              <a:buNone/>
            </a:pPr>
            <a:r>
              <a:rPr lang="en-US" sz="1400" b="1" dirty="0">
                <a:solidFill>
                  <a:srgbClr val="0B3D5C"/>
                </a:solidFill>
                <a:latin typeface="Consolas" pitchFamily="34" charset="0"/>
                <a:ea typeface="Consolas" pitchFamily="34" charset="-122"/>
                <a:cs typeface="Consolas" pitchFamily="34" charset="-120"/>
              </a:rPr>
              <a:t>+ PARTITION BY</a:t>
            </a:r>
            <a:endParaRPr lang="en-US" sz="1400" dirty="0"/>
          </a:p>
        </p:txBody>
      </p:sp>
      <p:sp>
        <p:nvSpPr>
          <p:cNvPr id="16" name="Text 14"/>
          <p:cNvSpPr txBox="1"/>
          <p:nvPr/>
        </p:nvSpPr>
        <p:spPr>
          <a:xfrm>
            <a:off x="8275320" y="2862072"/>
            <a:ext cx="3154680" cy="594360"/>
          </a:xfrm>
          <a:prstGeom prst="rect">
            <a:avLst/>
          </a:prstGeom>
          <a:noFill/>
          <a:ln/>
        </p:spPr>
        <p:txBody>
          <a:bodyPr wrap="square" lIns="0" tIns="0" rIns="0" bIns="0" rtlCol="0" anchor="ctr"/>
          <a:lstStyle/>
          <a:p>
            <a:pPr marL="0" indent="0">
              <a:lnSpc>
                <a:spcPct val="115000"/>
              </a:lnSpc>
              <a:buNone/>
            </a:pPr>
            <a:r>
              <a:rPr lang="en-US" sz="1100" dirty="0">
                <a:solidFill>
                  <a:srgbClr val="5C7080"/>
                </a:solidFill>
                <a:latin typeface="Calibri" pitchFamily="34" charset="0"/>
                <a:ea typeface="Calibri" pitchFamily="34" charset="-122"/>
                <a:cs typeface="Calibri" pitchFamily="34" charset="-120"/>
              </a:rPr>
              <a:t>Number each passenger's own bookings in order (Q22)</a:t>
            </a:r>
            <a:endParaRPr lang="en-US" sz="1100" dirty="0"/>
          </a:p>
        </p:txBody>
      </p:sp>
      <p:sp>
        <p:nvSpPr>
          <p:cNvPr id="17" name="Shape 15"/>
          <p:cNvSpPr/>
          <p:nvPr/>
        </p:nvSpPr>
        <p:spPr>
          <a:xfrm>
            <a:off x="548640" y="3749040"/>
            <a:ext cx="3566160" cy="1417320"/>
          </a:xfrm>
          <a:prstGeom prst="roundRect">
            <a:avLst>
              <a:gd name="adj" fmla="val 5161"/>
            </a:avLst>
          </a:prstGeom>
          <a:solidFill>
            <a:srgbClr val="F5F9FC"/>
          </a:solidFill>
          <a:ln w="9525">
            <a:solidFill>
              <a:srgbClr val="D8E2E8"/>
            </a:solidFill>
            <a:prstDash val="solid"/>
          </a:ln>
        </p:spPr>
        <p:txBody>
          <a:bodyPr/>
          <a:lstStyle/>
          <a:p>
            <a:endParaRPr lang="en-IN"/>
          </a:p>
        </p:txBody>
      </p:sp>
      <p:sp>
        <p:nvSpPr>
          <p:cNvPr id="18" name="Shape 16"/>
          <p:cNvSpPr/>
          <p:nvPr/>
        </p:nvSpPr>
        <p:spPr>
          <a:xfrm>
            <a:off x="548640" y="3749040"/>
            <a:ext cx="64008" cy="1417320"/>
          </a:xfrm>
          <a:prstGeom prst="rect">
            <a:avLst/>
          </a:prstGeom>
          <a:solidFill>
            <a:srgbClr val="1C7293"/>
          </a:solidFill>
          <a:ln/>
        </p:spPr>
        <p:txBody>
          <a:bodyPr/>
          <a:lstStyle/>
          <a:p>
            <a:endParaRPr lang="en-IN"/>
          </a:p>
        </p:txBody>
      </p:sp>
      <p:sp>
        <p:nvSpPr>
          <p:cNvPr id="19" name="Text 17"/>
          <p:cNvSpPr txBox="1"/>
          <p:nvPr/>
        </p:nvSpPr>
        <p:spPr>
          <a:xfrm>
            <a:off x="777240" y="3886200"/>
            <a:ext cx="3154680" cy="548640"/>
          </a:xfrm>
          <a:prstGeom prst="rect">
            <a:avLst/>
          </a:prstGeom>
          <a:noFill/>
          <a:ln/>
        </p:spPr>
        <p:txBody>
          <a:bodyPr wrap="square" lIns="0" tIns="0" rIns="0" bIns="0" rtlCol="0" anchor="ctr"/>
          <a:lstStyle/>
          <a:p>
            <a:pPr marL="0" indent="0">
              <a:buNone/>
            </a:pPr>
            <a:r>
              <a:rPr lang="en-US" sz="1400" b="1" dirty="0">
                <a:solidFill>
                  <a:srgbClr val="0B3D5C"/>
                </a:solidFill>
                <a:latin typeface="Consolas" pitchFamily="34" charset="0"/>
                <a:ea typeface="Consolas" pitchFamily="34" charset="-122"/>
                <a:cs typeface="Consolas" pitchFamily="34" charset="-120"/>
              </a:rPr>
              <a:t>LAG()</a:t>
            </a:r>
            <a:endParaRPr lang="en-US" sz="1400" dirty="0"/>
          </a:p>
        </p:txBody>
      </p:sp>
      <p:sp>
        <p:nvSpPr>
          <p:cNvPr id="20" name="Text 18"/>
          <p:cNvSpPr txBox="1"/>
          <p:nvPr/>
        </p:nvSpPr>
        <p:spPr>
          <a:xfrm>
            <a:off x="777240" y="4462272"/>
            <a:ext cx="3154680" cy="594360"/>
          </a:xfrm>
          <a:prstGeom prst="rect">
            <a:avLst/>
          </a:prstGeom>
          <a:noFill/>
          <a:ln/>
        </p:spPr>
        <p:txBody>
          <a:bodyPr wrap="square" lIns="0" tIns="0" rIns="0" bIns="0" rtlCol="0" anchor="ctr"/>
          <a:lstStyle/>
          <a:p>
            <a:pPr marL="0" indent="0">
              <a:lnSpc>
                <a:spcPct val="115000"/>
              </a:lnSpc>
              <a:buNone/>
            </a:pPr>
            <a:r>
              <a:rPr lang="en-US" sz="1100" dirty="0">
                <a:solidFill>
                  <a:srgbClr val="5C7080"/>
                </a:solidFill>
                <a:latin typeface="Calibri" pitchFamily="34" charset="0"/>
                <a:ea typeface="Calibri" pitchFamily="34" charset="-122"/>
                <a:cs typeface="Calibri" pitchFamily="34" charset="-120"/>
              </a:rPr>
              <a:t>Compare each flight's fare to the previous flight's (Q23)</a:t>
            </a:r>
            <a:endParaRPr lang="en-US" sz="1100" dirty="0"/>
          </a:p>
        </p:txBody>
      </p:sp>
      <p:sp>
        <p:nvSpPr>
          <p:cNvPr id="21" name="Shape 19"/>
          <p:cNvSpPr/>
          <p:nvPr/>
        </p:nvSpPr>
        <p:spPr>
          <a:xfrm>
            <a:off x="4297680" y="3749040"/>
            <a:ext cx="3566160" cy="1417320"/>
          </a:xfrm>
          <a:prstGeom prst="roundRect">
            <a:avLst>
              <a:gd name="adj" fmla="val 5161"/>
            </a:avLst>
          </a:prstGeom>
          <a:solidFill>
            <a:srgbClr val="F5F9FC"/>
          </a:solidFill>
          <a:ln w="9525">
            <a:solidFill>
              <a:srgbClr val="D8E2E8"/>
            </a:solidFill>
            <a:prstDash val="solid"/>
          </a:ln>
        </p:spPr>
        <p:txBody>
          <a:bodyPr/>
          <a:lstStyle/>
          <a:p>
            <a:endParaRPr lang="en-IN"/>
          </a:p>
        </p:txBody>
      </p:sp>
      <p:sp>
        <p:nvSpPr>
          <p:cNvPr id="22" name="Shape 20"/>
          <p:cNvSpPr/>
          <p:nvPr/>
        </p:nvSpPr>
        <p:spPr>
          <a:xfrm>
            <a:off x="4297680" y="3749040"/>
            <a:ext cx="64008" cy="1417320"/>
          </a:xfrm>
          <a:prstGeom prst="rect">
            <a:avLst/>
          </a:prstGeom>
          <a:solidFill>
            <a:srgbClr val="1C7293"/>
          </a:solidFill>
          <a:ln/>
        </p:spPr>
        <p:txBody>
          <a:bodyPr/>
          <a:lstStyle/>
          <a:p>
            <a:endParaRPr lang="en-IN"/>
          </a:p>
        </p:txBody>
      </p:sp>
      <p:sp>
        <p:nvSpPr>
          <p:cNvPr id="23" name="Text 21"/>
          <p:cNvSpPr txBox="1"/>
          <p:nvPr/>
        </p:nvSpPr>
        <p:spPr>
          <a:xfrm>
            <a:off x="4526280" y="3886200"/>
            <a:ext cx="3154680" cy="548640"/>
          </a:xfrm>
          <a:prstGeom prst="rect">
            <a:avLst/>
          </a:prstGeom>
          <a:noFill/>
          <a:ln/>
        </p:spPr>
        <p:txBody>
          <a:bodyPr wrap="square" lIns="0" tIns="0" rIns="0" bIns="0" rtlCol="0" anchor="ctr"/>
          <a:lstStyle/>
          <a:p>
            <a:pPr marL="0" indent="0">
              <a:buNone/>
            </a:pPr>
            <a:r>
              <a:rPr lang="en-US" sz="1400" b="1" dirty="0">
                <a:solidFill>
                  <a:srgbClr val="0B3D5C"/>
                </a:solidFill>
                <a:latin typeface="Consolas" pitchFamily="34" charset="0"/>
                <a:ea typeface="Consolas" pitchFamily="34" charset="-122"/>
                <a:cs typeface="Consolas" pitchFamily="34" charset="-120"/>
              </a:rPr>
              <a:t>AVG() OVER</a:t>
            </a:r>
            <a:endParaRPr lang="en-US" sz="1400" dirty="0"/>
          </a:p>
          <a:p>
            <a:pPr marL="0" indent="0">
              <a:buNone/>
            </a:pPr>
            <a:r>
              <a:rPr lang="en-US" sz="1400" b="1" dirty="0">
                <a:solidFill>
                  <a:srgbClr val="0B3D5C"/>
                </a:solidFill>
                <a:latin typeface="Consolas" pitchFamily="34" charset="0"/>
                <a:ea typeface="Consolas" pitchFamily="34" charset="-122"/>
                <a:cs typeface="Consolas" pitchFamily="34" charset="-120"/>
              </a:rPr>
              <a:t>(ROWS frame)</a:t>
            </a:r>
            <a:endParaRPr lang="en-US" sz="1400" dirty="0"/>
          </a:p>
        </p:txBody>
      </p:sp>
      <p:sp>
        <p:nvSpPr>
          <p:cNvPr id="24" name="Text 22"/>
          <p:cNvSpPr txBox="1"/>
          <p:nvPr/>
        </p:nvSpPr>
        <p:spPr>
          <a:xfrm>
            <a:off x="4526280" y="4462272"/>
            <a:ext cx="3154680" cy="594360"/>
          </a:xfrm>
          <a:prstGeom prst="rect">
            <a:avLst/>
          </a:prstGeom>
          <a:noFill/>
          <a:ln/>
        </p:spPr>
        <p:txBody>
          <a:bodyPr wrap="square" lIns="0" tIns="0" rIns="0" bIns="0" rtlCol="0" anchor="ctr"/>
          <a:lstStyle/>
          <a:p>
            <a:pPr marL="0" indent="0">
              <a:lnSpc>
                <a:spcPct val="115000"/>
              </a:lnSpc>
              <a:buNone/>
            </a:pPr>
            <a:r>
              <a:rPr lang="en-US" sz="1100" dirty="0">
                <a:solidFill>
                  <a:srgbClr val="5C7080"/>
                </a:solidFill>
                <a:latin typeface="Calibri" pitchFamily="34" charset="0"/>
                <a:ea typeface="Calibri" pitchFamily="34" charset="-122"/>
                <a:cs typeface="Calibri" pitchFamily="34" charset="-120"/>
              </a:rPr>
              <a:t>3-day moving average of daily revenue (Q24)</a:t>
            </a:r>
            <a:endParaRPr lang="en-US" sz="1100" dirty="0"/>
          </a:p>
        </p:txBody>
      </p:sp>
      <p:sp>
        <p:nvSpPr>
          <p:cNvPr id="25" name="Shape 23"/>
          <p:cNvSpPr/>
          <p:nvPr/>
        </p:nvSpPr>
        <p:spPr>
          <a:xfrm>
            <a:off x="8046720" y="3749040"/>
            <a:ext cx="3566160" cy="1417320"/>
          </a:xfrm>
          <a:prstGeom prst="roundRect">
            <a:avLst>
              <a:gd name="adj" fmla="val 5161"/>
            </a:avLst>
          </a:prstGeom>
          <a:solidFill>
            <a:srgbClr val="F5F9FC"/>
          </a:solidFill>
          <a:ln w="9525">
            <a:solidFill>
              <a:srgbClr val="D8E2E8"/>
            </a:solidFill>
            <a:prstDash val="solid"/>
          </a:ln>
        </p:spPr>
        <p:txBody>
          <a:bodyPr/>
          <a:lstStyle/>
          <a:p>
            <a:endParaRPr lang="en-IN"/>
          </a:p>
        </p:txBody>
      </p:sp>
      <p:sp>
        <p:nvSpPr>
          <p:cNvPr id="26" name="Shape 24"/>
          <p:cNvSpPr/>
          <p:nvPr/>
        </p:nvSpPr>
        <p:spPr>
          <a:xfrm>
            <a:off x="8046720" y="3749040"/>
            <a:ext cx="64008" cy="1417320"/>
          </a:xfrm>
          <a:prstGeom prst="rect">
            <a:avLst/>
          </a:prstGeom>
          <a:solidFill>
            <a:srgbClr val="1C7293"/>
          </a:solidFill>
          <a:ln/>
        </p:spPr>
        <p:txBody>
          <a:bodyPr/>
          <a:lstStyle/>
          <a:p>
            <a:endParaRPr lang="en-IN"/>
          </a:p>
        </p:txBody>
      </p:sp>
      <p:sp>
        <p:nvSpPr>
          <p:cNvPr id="27" name="Text 25"/>
          <p:cNvSpPr txBox="1"/>
          <p:nvPr/>
        </p:nvSpPr>
        <p:spPr>
          <a:xfrm>
            <a:off x="8275320" y="3886200"/>
            <a:ext cx="3154680" cy="548640"/>
          </a:xfrm>
          <a:prstGeom prst="rect">
            <a:avLst/>
          </a:prstGeom>
          <a:noFill/>
          <a:ln/>
        </p:spPr>
        <p:txBody>
          <a:bodyPr wrap="square" lIns="0" tIns="0" rIns="0" bIns="0" rtlCol="0" anchor="ctr"/>
          <a:lstStyle/>
          <a:p>
            <a:pPr marL="0" indent="0">
              <a:buNone/>
            </a:pPr>
            <a:r>
              <a:rPr lang="en-US" sz="1400" b="1" dirty="0">
                <a:solidFill>
                  <a:srgbClr val="0B3D5C"/>
                </a:solidFill>
                <a:latin typeface="Consolas" pitchFamily="34" charset="0"/>
                <a:ea typeface="Consolas" pitchFamily="34" charset="-122"/>
                <a:cs typeface="Consolas" pitchFamily="34" charset="-120"/>
              </a:rPr>
              <a:t>NTILE(4)</a:t>
            </a:r>
            <a:endParaRPr lang="en-US" sz="1400" dirty="0"/>
          </a:p>
        </p:txBody>
      </p:sp>
      <p:sp>
        <p:nvSpPr>
          <p:cNvPr id="28" name="Text 26"/>
          <p:cNvSpPr txBox="1"/>
          <p:nvPr/>
        </p:nvSpPr>
        <p:spPr>
          <a:xfrm>
            <a:off x="8275320" y="4462272"/>
            <a:ext cx="3154680" cy="594360"/>
          </a:xfrm>
          <a:prstGeom prst="rect">
            <a:avLst/>
          </a:prstGeom>
          <a:noFill/>
          <a:ln/>
        </p:spPr>
        <p:txBody>
          <a:bodyPr wrap="square" lIns="0" tIns="0" rIns="0" bIns="0" rtlCol="0" anchor="ctr"/>
          <a:lstStyle/>
          <a:p>
            <a:pPr marL="0" indent="0">
              <a:lnSpc>
                <a:spcPct val="115000"/>
              </a:lnSpc>
              <a:buNone/>
            </a:pPr>
            <a:r>
              <a:rPr lang="en-US" sz="1100" dirty="0">
                <a:solidFill>
                  <a:srgbClr val="5C7080"/>
                </a:solidFill>
                <a:latin typeface="Calibri" pitchFamily="34" charset="0"/>
                <a:ea typeface="Calibri" pitchFamily="34" charset="-122"/>
                <a:cs typeface="Calibri" pitchFamily="34" charset="-120"/>
              </a:rPr>
              <a:t>Split flights into fare quartiles (Q25)</a:t>
            </a:r>
            <a:endParaRPr lang="en-US" sz="1100" dirty="0"/>
          </a:p>
        </p:txBody>
      </p:sp>
      <p:sp>
        <p:nvSpPr>
          <p:cNvPr id="29" name="Text 27"/>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5C7080"/>
                </a:solidFill>
                <a:latin typeface="Calibri" pitchFamily="34" charset="0"/>
                <a:ea typeface="Calibri" pitchFamily="34" charset="-122"/>
                <a:cs typeface="Calibri"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INSIGHT</a:t>
            </a:r>
            <a:endParaRPr lang="en-US" sz="1300" dirty="0"/>
          </a:p>
        </p:txBody>
      </p:sp>
      <p:sp>
        <p:nvSpPr>
          <p:cNvPr id="3" name="Text 1"/>
          <p:cNvSpPr txBox="1"/>
          <p:nvPr/>
        </p:nvSpPr>
        <p:spPr>
          <a:xfrm>
            <a:off x="548640" y="822960"/>
            <a:ext cx="10515600" cy="548640"/>
          </a:xfrm>
          <a:prstGeom prst="rect">
            <a:avLst/>
          </a:prstGeom>
          <a:noFill/>
          <a:ln/>
        </p:spPr>
        <p:txBody>
          <a:bodyPr wrap="square" lIns="0" tIns="0" rIns="0" bIns="0" rtlCol="0" anchor="ctr"/>
          <a:lstStyle/>
          <a:p>
            <a:pPr marL="0" indent="0">
              <a:buNone/>
            </a:pPr>
            <a:r>
              <a:rPr lang="en-US" sz="2500" b="1" dirty="0">
                <a:solidFill>
                  <a:srgbClr val="1A2733"/>
                </a:solidFill>
                <a:latin typeface="Cambria" pitchFamily="34" charset="0"/>
                <a:ea typeface="Cambria" pitchFamily="34" charset="-122"/>
                <a:cs typeface="Cambria" pitchFamily="34" charset="-120"/>
              </a:rPr>
              <a:t>Vistara leads on total revenue, SpiceJet trails</a:t>
            </a:r>
            <a:endParaRPr lang="en-US" sz="2500" dirty="0"/>
          </a:p>
        </p:txBody>
      </p:sp>
      <p:graphicFrame>
        <p:nvGraphicFramePr>
          <p:cNvPr id="4" name="Chart 0"/>
          <p:cNvGraphicFramePr/>
          <p:nvPr/>
        </p:nvGraphicFramePr>
        <p:xfrm>
          <a:off x="548640" y="1645920"/>
          <a:ext cx="640080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269480" y="1645920"/>
            <a:ext cx="4389120" cy="4389120"/>
          </a:xfrm>
          <a:prstGeom prst="roundRect">
            <a:avLst>
              <a:gd name="adj" fmla="val 2083"/>
            </a:avLst>
          </a:prstGeom>
          <a:solidFill>
            <a:srgbClr val="0B3D5C"/>
          </a:solidFill>
          <a:ln/>
        </p:spPr>
        <p:txBody>
          <a:bodyPr/>
          <a:lstStyle/>
          <a:p>
            <a:endParaRPr lang="en-IN"/>
          </a:p>
        </p:txBody>
      </p:sp>
      <p:sp>
        <p:nvSpPr>
          <p:cNvPr id="6" name="Text 3"/>
          <p:cNvSpPr txBox="1"/>
          <p:nvPr/>
        </p:nvSpPr>
        <p:spPr>
          <a:xfrm>
            <a:off x="7589520" y="1920240"/>
            <a:ext cx="3749040" cy="320040"/>
          </a:xfrm>
          <a:prstGeom prst="rect">
            <a:avLst/>
          </a:prstGeom>
          <a:noFill/>
          <a:ln/>
        </p:spPr>
        <p:txBody>
          <a:bodyPr wrap="square" lIns="0" tIns="0" rIns="0" bIns="0" rtlCol="0" anchor="ctr"/>
          <a:lstStyle/>
          <a:p>
            <a:pPr marL="0" indent="0">
              <a:buNone/>
            </a:pPr>
            <a:r>
              <a:rPr lang="en-US" sz="1100" b="1" kern="0" spc="150" dirty="0">
                <a:solidFill>
                  <a:srgbClr val="F4A300"/>
                </a:solidFill>
                <a:latin typeface="Calibri" pitchFamily="34" charset="0"/>
                <a:ea typeface="Calibri" pitchFamily="34" charset="-122"/>
                <a:cs typeface="Calibri" pitchFamily="34" charset="-120"/>
              </a:rPr>
              <a:t>FROM QUERY Q17 / Q30</a:t>
            </a:r>
            <a:endParaRPr lang="en-US" sz="1100" dirty="0"/>
          </a:p>
        </p:txBody>
      </p:sp>
      <p:sp>
        <p:nvSpPr>
          <p:cNvPr id="7" name="Text 4"/>
          <p:cNvSpPr txBox="1"/>
          <p:nvPr/>
        </p:nvSpPr>
        <p:spPr>
          <a:xfrm>
            <a:off x="7589520" y="2377440"/>
            <a:ext cx="3749040"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Vistara: ₹35,150</a:t>
            </a:r>
            <a:endParaRPr lang="en-US" sz="1700" dirty="0"/>
          </a:p>
        </p:txBody>
      </p:sp>
      <p:sp>
        <p:nvSpPr>
          <p:cNvPr id="8" name="Text 5"/>
          <p:cNvSpPr txBox="1"/>
          <p:nvPr/>
        </p:nvSpPr>
        <p:spPr>
          <a:xfrm>
            <a:off x="7589520" y="2834640"/>
            <a:ext cx="3749040" cy="914400"/>
          </a:xfrm>
          <a:prstGeom prst="rect">
            <a:avLst/>
          </a:prstGeom>
          <a:noFill/>
          <a:ln/>
        </p:spPr>
        <p:txBody>
          <a:bodyPr wrap="square" lIns="0" tIns="0" rIns="0" bIns="0"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Highest-earning airline across all confirmed bookings, driven by its Delhi–Bengaluru and Hyderabad–Mumbai routes.</a:t>
            </a:r>
            <a:endParaRPr lang="en-US" sz="1150" dirty="0"/>
          </a:p>
        </p:txBody>
      </p:sp>
      <p:sp>
        <p:nvSpPr>
          <p:cNvPr id="9" name="Shape 6"/>
          <p:cNvSpPr/>
          <p:nvPr/>
        </p:nvSpPr>
        <p:spPr>
          <a:xfrm>
            <a:off x="7589520" y="3931920"/>
            <a:ext cx="3749040" cy="0"/>
          </a:xfrm>
          <a:prstGeom prst="line">
            <a:avLst/>
          </a:prstGeom>
          <a:noFill/>
          <a:ln w="12700">
            <a:solidFill>
              <a:srgbClr val="2C6E8F"/>
            </a:solidFill>
            <a:prstDash val="solid"/>
          </a:ln>
        </p:spPr>
        <p:txBody>
          <a:bodyPr/>
          <a:lstStyle/>
          <a:p>
            <a:endParaRPr lang="en-IN"/>
          </a:p>
        </p:txBody>
      </p:sp>
      <p:sp>
        <p:nvSpPr>
          <p:cNvPr id="10" name="Text 7"/>
          <p:cNvSpPr txBox="1"/>
          <p:nvPr/>
        </p:nvSpPr>
        <p:spPr>
          <a:xfrm>
            <a:off x="7589520" y="4114800"/>
            <a:ext cx="3749040"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SpiceJet: ₹18,600</a:t>
            </a:r>
            <a:endParaRPr lang="en-US" sz="1700" dirty="0"/>
          </a:p>
        </p:txBody>
      </p:sp>
      <p:sp>
        <p:nvSpPr>
          <p:cNvPr id="11" name="Text 8"/>
          <p:cNvSpPr txBox="1"/>
          <p:nvPr/>
        </p:nvSpPr>
        <p:spPr>
          <a:xfrm>
            <a:off x="7589520" y="4572000"/>
            <a:ext cx="3749040" cy="914400"/>
          </a:xfrm>
          <a:prstGeom prst="rect">
            <a:avLst/>
          </a:prstGeom>
          <a:noFill/>
          <a:ln/>
        </p:spPr>
        <p:txBody>
          <a:bodyPr wrap="square" lIns="0" tIns="0" rIns="0" bIns="0"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Lowest revenue share — fewer bookings per flight, a candidate for a pricing or scheduling review.</a:t>
            </a:r>
            <a:endParaRPr lang="en-US" sz="1150" dirty="0"/>
          </a:p>
        </p:txBody>
      </p:sp>
      <p:sp>
        <p:nvSpPr>
          <p:cNvPr id="12" name="Text 9"/>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5C7080"/>
                </a:solidFill>
                <a:latin typeface="Calibri" pitchFamily="34" charset="0"/>
                <a:ea typeface="Calibri" pitchFamily="34" charset="-122"/>
                <a:cs typeface="Calibri"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STAGE 04 · VISUALIZATION</a:t>
            </a:r>
            <a:endParaRPr lang="en-US" sz="1300" dirty="0"/>
          </a:p>
        </p:txBody>
      </p:sp>
      <p:sp>
        <p:nvSpPr>
          <p:cNvPr id="3" name="Text 1"/>
          <p:cNvSpPr txBox="1"/>
          <p:nvPr/>
        </p:nvSpPr>
        <p:spPr>
          <a:xfrm>
            <a:off x="548640" y="822960"/>
            <a:ext cx="10698480" cy="640080"/>
          </a:xfrm>
          <a:prstGeom prst="rect">
            <a:avLst/>
          </a:prstGeom>
          <a:noFill/>
          <a:ln/>
        </p:spPr>
        <p:txBody>
          <a:bodyPr wrap="square" lIns="0" tIns="0" rIns="0" bIns="0" rtlCol="0" anchor="ctr"/>
          <a:lstStyle/>
          <a:p>
            <a:pPr marL="0" indent="0">
              <a:buNone/>
            </a:pPr>
            <a:r>
              <a:rPr lang="en-US" sz="2400" b="1" dirty="0">
                <a:solidFill>
                  <a:srgbClr val="1A2733"/>
                </a:solidFill>
                <a:latin typeface="Cambria" pitchFamily="34" charset="0"/>
                <a:ea typeface="Cambria" pitchFamily="34" charset="-122"/>
                <a:cs typeface="Cambria" pitchFamily="34" charset="-120"/>
              </a:rPr>
              <a:t>Cumulative revenue climbs steadily across the booking window</a:t>
            </a:r>
            <a:endParaRPr lang="en-US" sz="2400" dirty="0"/>
          </a:p>
        </p:txBody>
      </p:sp>
      <p:graphicFrame>
        <p:nvGraphicFramePr>
          <p:cNvPr id="4" name="Chart 0"/>
          <p:cNvGraphicFramePr/>
          <p:nvPr/>
        </p:nvGraphicFramePr>
        <p:xfrm>
          <a:off x="548640" y="1691640"/>
          <a:ext cx="110642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548640" y="6035040"/>
            <a:ext cx="10058400" cy="365760"/>
          </a:xfrm>
          <a:prstGeom prst="rect">
            <a:avLst/>
          </a:prstGeom>
          <a:noFill/>
          <a:ln/>
        </p:spPr>
        <p:txBody>
          <a:bodyPr wrap="square" lIns="0" tIns="0" rIns="0" bIns="0" rtlCol="0" anchor="ctr"/>
          <a:lstStyle/>
          <a:p>
            <a:pPr marL="0" indent="0">
              <a:buNone/>
            </a:pPr>
            <a:r>
              <a:rPr lang="en-US" sz="1150" i="1" dirty="0">
                <a:solidFill>
                  <a:srgbClr val="5C7080"/>
                </a:solidFill>
                <a:latin typeface="Calibri" pitchFamily="34" charset="0"/>
                <a:ea typeface="Calibri" pitchFamily="34" charset="-122"/>
                <a:cs typeface="Calibri" pitchFamily="34" charset="-120"/>
              </a:rPr>
              <a:t>Query Q12 — SUM() OVER (ORDER BY Payment_Date), a running total that never resets.</a:t>
            </a:r>
            <a:endParaRPr lang="en-US" sz="1150" dirty="0"/>
          </a:p>
        </p:txBody>
      </p:sp>
      <p:sp>
        <p:nvSpPr>
          <p:cNvPr id="6" name="Text 3"/>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5C7080"/>
                </a:solidFill>
                <a:latin typeface="Calibri" pitchFamily="34" charset="0"/>
                <a:ea typeface="Calibri" pitchFamily="34" charset="-122"/>
                <a:cs typeface="Calibri"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3D5C"/>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F4A300"/>
                </a:solidFill>
                <a:latin typeface="Calibri" pitchFamily="34" charset="0"/>
                <a:ea typeface="Calibri" pitchFamily="34" charset="-122"/>
                <a:cs typeface="Calibri" pitchFamily="34" charset="-120"/>
              </a:rPr>
              <a:t>CONCLUSION</a:t>
            </a:r>
            <a:endParaRPr lang="en-US" sz="1300" dirty="0"/>
          </a:p>
        </p:txBody>
      </p:sp>
      <p:sp>
        <p:nvSpPr>
          <p:cNvPr id="3" name="Text 1"/>
          <p:cNvSpPr txBox="1"/>
          <p:nvPr/>
        </p:nvSpPr>
        <p:spPr>
          <a:xfrm>
            <a:off x="548640" y="822960"/>
            <a:ext cx="1005840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this project demonstrates</a:t>
            </a:r>
            <a:endParaRPr lang="en-US" sz="2800" dirty="0"/>
          </a:p>
        </p:txBody>
      </p:sp>
      <p:sp>
        <p:nvSpPr>
          <p:cNvPr id="4" name="Shape 2"/>
          <p:cNvSpPr/>
          <p:nvPr/>
        </p:nvSpPr>
        <p:spPr>
          <a:xfrm>
            <a:off x="548640" y="1993392"/>
            <a:ext cx="128016" cy="128016"/>
          </a:xfrm>
          <a:prstGeom prst="ellipse">
            <a:avLst/>
          </a:prstGeom>
          <a:solidFill>
            <a:srgbClr val="F4A300"/>
          </a:solidFill>
          <a:ln/>
        </p:spPr>
        <p:txBody>
          <a:bodyPr/>
          <a:lstStyle/>
          <a:p>
            <a:endParaRPr lang="en-IN"/>
          </a:p>
        </p:txBody>
      </p:sp>
      <p:sp>
        <p:nvSpPr>
          <p:cNvPr id="5" name="Text 3"/>
          <p:cNvSpPr txBox="1"/>
          <p:nvPr/>
        </p:nvSpPr>
        <p:spPr>
          <a:xfrm>
            <a:off x="914400" y="1920240"/>
            <a:ext cx="10241280" cy="548640"/>
          </a:xfrm>
          <a:prstGeom prst="rect">
            <a:avLst/>
          </a:prstGeom>
          <a:noFill/>
          <a:ln/>
        </p:spPr>
        <p:txBody>
          <a:bodyPr wrap="square" lIns="0" tIns="0" rIns="0" bIns="0" rtlCol="0" anchor="ctr"/>
          <a:lstStyle/>
          <a:p>
            <a:pPr marL="0" indent="0">
              <a:buNone/>
            </a:pPr>
            <a:r>
              <a:rPr lang="en-US" sz="1600" dirty="0">
                <a:solidFill>
                  <a:srgbClr val="E8F1F8"/>
                </a:solidFill>
                <a:latin typeface="Calibri" pitchFamily="34" charset="0"/>
                <a:ea typeface="Calibri" pitchFamily="34" charset="-122"/>
                <a:cs typeface="Calibri" pitchFamily="34" charset="-120"/>
              </a:rPr>
              <a:t>A normalized, real-world relational schema — five tables, four relationship types</a:t>
            </a:r>
            <a:endParaRPr lang="en-US" sz="1600" dirty="0"/>
          </a:p>
        </p:txBody>
      </p:sp>
      <p:sp>
        <p:nvSpPr>
          <p:cNvPr id="6" name="Shape 4"/>
          <p:cNvSpPr/>
          <p:nvPr/>
        </p:nvSpPr>
        <p:spPr>
          <a:xfrm>
            <a:off x="548640" y="2770632"/>
            <a:ext cx="128016" cy="128016"/>
          </a:xfrm>
          <a:prstGeom prst="ellipse">
            <a:avLst/>
          </a:prstGeom>
          <a:solidFill>
            <a:srgbClr val="F4A300"/>
          </a:solidFill>
          <a:ln/>
        </p:spPr>
        <p:txBody>
          <a:bodyPr/>
          <a:lstStyle/>
          <a:p>
            <a:endParaRPr lang="en-IN"/>
          </a:p>
        </p:txBody>
      </p:sp>
      <p:sp>
        <p:nvSpPr>
          <p:cNvPr id="7" name="Text 5"/>
          <p:cNvSpPr txBox="1"/>
          <p:nvPr/>
        </p:nvSpPr>
        <p:spPr>
          <a:xfrm>
            <a:off x="914400" y="2697480"/>
            <a:ext cx="10241280" cy="548640"/>
          </a:xfrm>
          <a:prstGeom prst="rect">
            <a:avLst/>
          </a:prstGeom>
          <a:noFill/>
          <a:ln/>
        </p:spPr>
        <p:txBody>
          <a:bodyPr wrap="square" lIns="0" tIns="0" rIns="0" bIns="0" rtlCol="0" anchor="ctr"/>
          <a:lstStyle/>
          <a:p>
            <a:pPr marL="0" indent="0">
              <a:buNone/>
            </a:pPr>
            <a:r>
              <a:rPr lang="en-US" sz="1600" dirty="0">
                <a:solidFill>
                  <a:srgbClr val="E8F1F8"/>
                </a:solidFill>
                <a:latin typeface="Calibri" pitchFamily="34" charset="0"/>
                <a:ea typeface="Calibri" pitchFamily="34" charset="-122"/>
                <a:cs typeface="Calibri" pitchFamily="34" charset="-120"/>
              </a:rPr>
              <a:t>30 queries spanning filtering, joins, subqueries, aggregation, and set logic</a:t>
            </a:r>
            <a:endParaRPr lang="en-US" sz="1600" dirty="0"/>
          </a:p>
        </p:txBody>
      </p:sp>
      <p:sp>
        <p:nvSpPr>
          <p:cNvPr id="8" name="Shape 6"/>
          <p:cNvSpPr/>
          <p:nvPr/>
        </p:nvSpPr>
        <p:spPr>
          <a:xfrm>
            <a:off x="548640" y="3547872"/>
            <a:ext cx="128016" cy="128016"/>
          </a:xfrm>
          <a:prstGeom prst="ellipse">
            <a:avLst/>
          </a:prstGeom>
          <a:solidFill>
            <a:srgbClr val="F4A300"/>
          </a:solidFill>
          <a:ln/>
        </p:spPr>
        <p:txBody>
          <a:bodyPr/>
          <a:lstStyle/>
          <a:p>
            <a:endParaRPr lang="en-IN"/>
          </a:p>
        </p:txBody>
      </p:sp>
      <p:sp>
        <p:nvSpPr>
          <p:cNvPr id="9" name="Text 7"/>
          <p:cNvSpPr txBox="1"/>
          <p:nvPr/>
        </p:nvSpPr>
        <p:spPr>
          <a:xfrm>
            <a:off x="914400" y="3474720"/>
            <a:ext cx="10241280" cy="548640"/>
          </a:xfrm>
          <a:prstGeom prst="rect">
            <a:avLst/>
          </a:prstGeom>
          <a:noFill/>
          <a:ln/>
        </p:spPr>
        <p:txBody>
          <a:bodyPr wrap="square" lIns="0" tIns="0" rIns="0" bIns="0" rtlCol="0" anchor="ctr"/>
          <a:lstStyle/>
          <a:p>
            <a:pPr marL="0" indent="0">
              <a:buNone/>
            </a:pPr>
            <a:r>
              <a:rPr lang="en-US" sz="1600" dirty="0">
                <a:solidFill>
                  <a:srgbClr val="E8F1F8"/>
                </a:solidFill>
                <a:latin typeface="Calibri" pitchFamily="34" charset="0"/>
                <a:ea typeface="Calibri" pitchFamily="34" charset="-122"/>
                <a:cs typeface="Calibri" pitchFamily="34" charset="-120"/>
              </a:rPr>
              <a:t>Six distinct window-function patterns for ranking, running totals, and trend comparisons</a:t>
            </a:r>
            <a:endParaRPr lang="en-US" sz="1600" dirty="0"/>
          </a:p>
        </p:txBody>
      </p:sp>
      <p:sp>
        <p:nvSpPr>
          <p:cNvPr id="10" name="Shape 8"/>
          <p:cNvSpPr/>
          <p:nvPr/>
        </p:nvSpPr>
        <p:spPr>
          <a:xfrm>
            <a:off x="548640" y="4325112"/>
            <a:ext cx="128016" cy="128016"/>
          </a:xfrm>
          <a:prstGeom prst="ellipse">
            <a:avLst/>
          </a:prstGeom>
          <a:solidFill>
            <a:srgbClr val="F4A300"/>
          </a:solidFill>
          <a:ln/>
        </p:spPr>
        <p:txBody>
          <a:bodyPr/>
          <a:lstStyle/>
          <a:p>
            <a:endParaRPr lang="en-IN"/>
          </a:p>
        </p:txBody>
      </p:sp>
      <p:sp>
        <p:nvSpPr>
          <p:cNvPr id="11" name="Text 9"/>
          <p:cNvSpPr txBox="1"/>
          <p:nvPr/>
        </p:nvSpPr>
        <p:spPr>
          <a:xfrm>
            <a:off x="914400" y="4251960"/>
            <a:ext cx="10241280" cy="548640"/>
          </a:xfrm>
          <a:prstGeom prst="rect">
            <a:avLst/>
          </a:prstGeom>
          <a:noFill/>
          <a:ln/>
        </p:spPr>
        <p:txBody>
          <a:bodyPr wrap="square" lIns="0" tIns="0" rIns="0" bIns="0" rtlCol="0" anchor="ctr"/>
          <a:lstStyle/>
          <a:p>
            <a:pPr marL="0" indent="0">
              <a:buNone/>
            </a:pPr>
            <a:r>
              <a:rPr lang="en-US" sz="1600" dirty="0">
                <a:solidFill>
                  <a:srgbClr val="E8F1F8"/>
                </a:solidFill>
                <a:latin typeface="Calibri" pitchFamily="34" charset="0"/>
                <a:ea typeface="Calibri" pitchFamily="34" charset="-122"/>
                <a:cs typeface="Calibri" pitchFamily="34" charset="-120"/>
              </a:rPr>
              <a:t>CTEs, indexes, and views used the way production reporting systems actually use them</a:t>
            </a:r>
            <a:endParaRPr lang="en-US" sz="1600" dirty="0"/>
          </a:p>
        </p:txBody>
      </p:sp>
      <p:sp>
        <p:nvSpPr>
          <p:cNvPr id="12" name="Shape 10"/>
          <p:cNvSpPr/>
          <p:nvPr/>
        </p:nvSpPr>
        <p:spPr>
          <a:xfrm>
            <a:off x="548640" y="5303520"/>
            <a:ext cx="11064240" cy="0"/>
          </a:xfrm>
          <a:prstGeom prst="line">
            <a:avLst/>
          </a:prstGeom>
          <a:noFill/>
          <a:ln w="12700">
            <a:solidFill>
              <a:srgbClr val="2C6E8F"/>
            </a:solidFill>
            <a:prstDash val="solid"/>
          </a:ln>
        </p:spPr>
        <p:txBody>
          <a:bodyPr/>
          <a:lstStyle/>
          <a:p>
            <a:endParaRPr lang="en-IN"/>
          </a:p>
        </p:txBody>
      </p:sp>
      <p:sp>
        <p:nvSpPr>
          <p:cNvPr id="13" name="Text 11"/>
          <p:cNvSpPr txBox="1"/>
          <p:nvPr/>
        </p:nvSpPr>
        <p:spPr>
          <a:xfrm>
            <a:off x="548640" y="5486400"/>
            <a:ext cx="11064240" cy="457200"/>
          </a:xfrm>
          <a:prstGeom prst="rect">
            <a:avLst/>
          </a:prstGeom>
          <a:noFill/>
          <a:ln/>
        </p:spPr>
        <p:txBody>
          <a:bodyPr wrap="square" lIns="0" tIns="0" rIns="0" bIns="0" rtlCol="0" anchor="ctr"/>
          <a:lstStyle/>
          <a:p>
            <a:pPr marL="0" indent="0">
              <a:buNone/>
            </a:pPr>
            <a:r>
              <a:rPr lang="en-US" sz="1350" i="1" dirty="0">
                <a:solidFill>
                  <a:srgbClr val="9FB8C8"/>
                </a:solidFill>
                <a:latin typeface="Calibri" pitchFamily="34" charset="0"/>
                <a:ea typeface="Calibri" pitchFamily="34" charset="-122"/>
                <a:cs typeface="Calibri" pitchFamily="34" charset="-120"/>
              </a:rPr>
              <a:t>Next step: connect SkyBookDB's views to Power BI for a live booking &amp; revenue dashboard.</a:t>
            </a:r>
            <a:endParaRPr lang="en-US" sz="1350" dirty="0"/>
          </a:p>
        </p:txBody>
      </p:sp>
      <p:sp>
        <p:nvSpPr>
          <p:cNvPr id="14" name="Text 12"/>
          <p:cNvSpPr txBox="1"/>
          <p:nvPr/>
        </p:nvSpPr>
        <p:spPr>
          <a:xfrm>
            <a:off x="11430000" y="6446520"/>
            <a:ext cx="548640" cy="320040"/>
          </a:xfrm>
          <a:prstGeom prst="rect">
            <a:avLst/>
          </a:prstGeom>
          <a:noFill/>
          <a:ln/>
        </p:spPr>
        <p:txBody>
          <a:bodyPr wrap="square" lIns="0" tIns="0" rIns="0" bIns="0" rtlCol="0" anchor="ctr"/>
          <a:lstStyle/>
          <a:p>
            <a:pPr marL="0" indent="0" algn="r">
              <a:buNone/>
            </a:pPr>
            <a:r>
              <a:rPr lang="en-US" sz="1100" dirty="0">
                <a:solidFill>
                  <a:srgbClr val="9FB8C8"/>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3D5C"/>
        </a:solidFill>
        <a:effectLst/>
      </p:bgPr>
    </p:bg>
    <p:spTree>
      <p:nvGrpSpPr>
        <p:cNvPr id="1" name=""/>
        <p:cNvGrpSpPr/>
        <p:nvPr/>
      </p:nvGrpSpPr>
      <p:grpSpPr>
        <a:xfrm>
          <a:off x="0" y="0"/>
          <a:ext cx="0" cy="0"/>
          <a:chOff x="0" y="0"/>
          <a:chExt cx="0" cy="0"/>
        </a:xfrm>
      </p:grpSpPr>
      <p:sp>
        <p:nvSpPr>
          <p:cNvPr id="2" name="Shape 0"/>
          <p:cNvSpPr/>
          <p:nvPr/>
        </p:nvSpPr>
        <p:spPr>
          <a:xfrm>
            <a:off x="8412480" y="-2286000"/>
            <a:ext cx="7315200" cy="7315200"/>
          </a:xfrm>
          <a:prstGeom prst="ellipse">
            <a:avLst/>
          </a:prstGeom>
          <a:solidFill>
            <a:srgbClr val="1C7293">
              <a:alpha val="22000"/>
            </a:srgbClr>
          </a:solidFill>
          <a:ln/>
        </p:spPr>
        <p:txBody>
          <a:bodyPr/>
          <a:lstStyle/>
          <a:p>
            <a:endParaRPr lang="en-IN"/>
          </a:p>
        </p:txBody>
      </p:sp>
      <p:sp>
        <p:nvSpPr>
          <p:cNvPr id="3" name="Text 1"/>
          <p:cNvSpPr txBox="1"/>
          <p:nvPr/>
        </p:nvSpPr>
        <p:spPr>
          <a:xfrm>
            <a:off x="822960" y="2468880"/>
            <a:ext cx="9144000" cy="100584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4" name="Text 2"/>
          <p:cNvSpPr txBox="1"/>
          <p:nvPr/>
        </p:nvSpPr>
        <p:spPr>
          <a:xfrm>
            <a:off x="822960" y="3429000"/>
            <a:ext cx="9601200" cy="45720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SkyBook — Airline Flight Booking &amp; Revenue Management System</a:t>
            </a:r>
            <a:endParaRPr lang="en-US" sz="1600" dirty="0"/>
          </a:p>
        </p:txBody>
      </p:sp>
      <p:sp>
        <p:nvSpPr>
          <p:cNvPr id="5" name="Text 3"/>
          <p:cNvSpPr txBox="1"/>
          <p:nvPr/>
        </p:nvSpPr>
        <p:spPr>
          <a:xfrm>
            <a:off x="822960" y="3931920"/>
            <a:ext cx="9601200" cy="365760"/>
          </a:xfrm>
          <a:prstGeom prst="rect">
            <a:avLst/>
          </a:prstGeom>
          <a:noFill/>
          <a:ln/>
        </p:spPr>
        <p:txBody>
          <a:bodyPr wrap="square" lIns="0" tIns="0" rIns="0" bIns="0" rtlCol="0" anchor="ctr"/>
          <a:lstStyle/>
          <a:p>
            <a:pPr marL="0" indent="0">
              <a:buNone/>
            </a:pPr>
            <a:r>
              <a:rPr lang="en-US" sz="1300" dirty="0">
                <a:solidFill>
                  <a:srgbClr val="9FB8C8"/>
                </a:solidFill>
                <a:latin typeface="Calibri" pitchFamily="34" charset="0"/>
                <a:ea typeface="Calibri" pitchFamily="34" charset="-122"/>
                <a:cs typeface="Calibri" pitchFamily="34" charset="-120"/>
              </a:rPr>
              <a:t>Questions welcome.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866</Words>
  <Application>Microsoft Office PowerPoint</Application>
  <PresentationFormat>Widescreen</PresentationFormat>
  <Paragraphs>156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Sadia Uzma Ashrafi</cp:lastModifiedBy>
  <cp:revision>2</cp:revision>
  <dcterms:created xsi:type="dcterms:W3CDTF">2026-09-05T18:38:10Z</dcterms:created>
  <dcterms:modified xsi:type="dcterms:W3CDTF">2026-09-15T07:39:04Z</dcterms:modified>
</cp:coreProperties>
</file>